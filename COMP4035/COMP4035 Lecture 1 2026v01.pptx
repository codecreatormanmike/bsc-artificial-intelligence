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1" r:id="rId6"/>
    <p:sldId id="260" r:id="rId7"/>
    <p:sldId id="267" r:id="rId8"/>
    <p:sldId id="262" r:id="rId9"/>
    <p:sldId id="264" r:id="rId10"/>
    <p:sldId id="265" r:id="rId11"/>
    <p:sldId id="266" r:id="rId12"/>
    <p:sldId id="268" r:id="rId13"/>
    <p:sldId id="263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C9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10" y="4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9297d9c992_4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9297d9c992_4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9297d9c992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9297d9c992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  <p:pic>
        <p:nvPicPr>
          <p:cNvPr id="6" name="Picture 5" descr="Brookes Logo">
            <a:extLst>
              <a:ext uri="{FF2B5EF4-FFF2-40B4-BE49-F238E27FC236}">
                <a16:creationId xmlns:a16="http://schemas.microsoft.com/office/drawing/2014/main" id="{59AFA010-0C14-4115-B434-BBCC561EC1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38632" y="183795"/>
            <a:ext cx="1619965" cy="6444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F9C909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None/>
              <a:defRPr sz="3600">
                <a:solidFill>
                  <a:srgbClr val="00000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  <p:pic>
        <p:nvPicPr>
          <p:cNvPr id="5" name="Picture 4" descr="Brookes Logo">
            <a:extLst>
              <a:ext uri="{FF2B5EF4-FFF2-40B4-BE49-F238E27FC236}">
                <a16:creationId xmlns:a16="http://schemas.microsoft.com/office/drawing/2014/main" id="{B98F99C4-3884-493F-9AD5-5D2B21FBC4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38632" y="183795"/>
            <a:ext cx="1619965" cy="6444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CB56BF-5A70-40A4-9D56-CA36549D82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072062"/>
            <a:ext cx="9144000" cy="714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77BE58-A9C8-4BE2-AA37-54380FB69A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072062"/>
            <a:ext cx="9144000" cy="714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03D03D-D6B5-4F91-8823-998F51F87C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072062"/>
            <a:ext cx="9144000" cy="71438"/>
          </a:xfrm>
          <a:prstGeom prst="rect">
            <a:avLst/>
          </a:prstGeom>
        </p:spPr>
      </p:pic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11150" y="1165225"/>
            <a:ext cx="8521700" cy="3497263"/>
          </a:xfrm>
        </p:spPr>
        <p:txBody>
          <a:bodyPr/>
          <a:lstStyle/>
          <a:p>
            <a:r>
              <a:rPr lang="en-US" dirty="0"/>
              <a:t>Click icon to add picture</a:t>
            </a:r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Google Shape;3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5FEAF6-2A49-41B0-8B24-EC41319B9E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072062"/>
            <a:ext cx="9144000" cy="71438"/>
          </a:xfrm>
          <a:prstGeom prst="rect">
            <a:avLst/>
          </a:prstGeom>
        </p:spPr>
      </p:pic>
      <p:sp>
        <p:nvSpPr>
          <p:cNvPr id="3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532188" y="555625"/>
            <a:ext cx="5292725" cy="4013200"/>
          </a:xfrm>
        </p:spPr>
        <p:txBody>
          <a:bodyPr/>
          <a:lstStyle/>
          <a:p>
            <a:r>
              <a:rPr lang="en-US" dirty="0"/>
              <a:t>Click icon to add picture</a:t>
            </a:r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3363EC-4A08-40BE-A768-6B6A3798E2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072062"/>
            <a:ext cx="9144000" cy="714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userDrawn="1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Google Shape;5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DBEFB2-A077-4EE9-8E6C-E221F6C434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072062"/>
            <a:ext cx="9144000" cy="71438"/>
          </a:xfrm>
          <a:prstGeom prst="rect">
            <a:avLst/>
          </a:prstGeom>
        </p:spPr>
      </p:pic>
      <p:sp>
        <p:nvSpPr>
          <p:cNvPr id="6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311150" y="407401"/>
            <a:ext cx="8521700" cy="3497263"/>
          </a:xfrm>
        </p:spPr>
        <p:txBody>
          <a:bodyPr/>
          <a:lstStyle/>
          <a:p>
            <a:r>
              <a:rPr lang="en-US" dirty="0"/>
              <a:t>Click icon to add picture</a:t>
            </a:r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ABCBAC-96FC-4E2B-AB4B-CF0A80B81C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072062"/>
            <a:ext cx="9144000" cy="714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FD891F-A425-4C4D-B146-BCB75AFCD4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072062"/>
            <a:ext cx="9144000" cy="7143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3F3F3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COMP4035 Computer Science Applications</a:t>
            </a:r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David Lightfoot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Notes by Peter Marshall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15CE8C-B8C7-46FD-B254-3C695FE6F6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</a:t>
            </a:fld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Lecture 1: Why am I here?</a:t>
            </a: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25724C-C949-4D79-B2D7-64FBFE9AAC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</a:t>
            </a:fld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78" name="Google Shape;7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spcAft>
                <a:spcPts val="1600"/>
              </a:spcAft>
            </a:pPr>
            <a:r>
              <a:rPr lang="en-GB" dirty="0"/>
              <a:t>Introduction to the module</a:t>
            </a:r>
          </a:p>
          <a:p>
            <a:pPr marL="285750" indent="-285750">
              <a:spcAft>
                <a:spcPts val="1600"/>
              </a:spcAft>
            </a:pPr>
            <a:r>
              <a:rPr lang="en-GB" dirty="0"/>
              <a:t>Coursework</a:t>
            </a:r>
          </a:p>
          <a:p>
            <a:pPr marL="285750" indent="-285750">
              <a:spcAft>
                <a:spcPts val="1600"/>
              </a:spcAft>
            </a:pPr>
            <a:r>
              <a:rPr lang="en-GB" dirty="0"/>
              <a:t>What is a computing professional?</a:t>
            </a:r>
          </a:p>
          <a:p>
            <a:pPr marL="285750" indent="-285750">
              <a:spcAft>
                <a:spcPts val="1600"/>
              </a:spcAft>
            </a:pPr>
            <a:r>
              <a:rPr lang="en-GB" dirty="0"/>
              <a:t>Computing and Business</a:t>
            </a:r>
          </a:p>
          <a:p>
            <a:pPr marL="285750" indent="-285750">
              <a:spcAft>
                <a:spcPts val="1600"/>
              </a:spcAft>
            </a:pPr>
            <a:r>
              <a:rPr lang="en-GB" dirty="0"/>
              <a:t>Requirements Elicitation</a:t>
            </a:r>
          </a:p>
          <a:p>
            <a:pPr marL="0" indent="0">
              <a:spcAft>
                <a:spcPts val="1600"/>
              </a:spcAft>
              <a:buNone/>
            </a:pPr>
            <a:br>
              <a:rPr lang="en-GB" dirty="0"/>
            </a:br>
            <a:endParaRPr lang="en-GB" dirty="0"/>
          </a:p>
          <a:p>
            <a:pPr marL="0" indent="0">
              <a:spcAft>
                <a:spcPts val="1600"/>
              </a:spcAft>
              <a:buNone/>
            </a:pP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D2D57D-3331-4776-B7BD-FA97778713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</a:t>
            </a:fld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704CC-B535-ED50-9DEA-417DCE55B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structure of the module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F82EA-FF0C-5420-1394-EAA106DE2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module has four parts:</a:t>
            </a:r>
          </a:p>
          <a:p>
            <a:pPr lvl="1"/>
            <a:r>
              <a:rPr lang="en-GB" dirty="0"/>
              <a:t>Semester 1</a:t>
            </a:r>
          </a:p>
          <a:p>
            <a:pPr marL="1397000" lvl="2" indent="-342900">
              <a:buFont typeface="+mj-lt"/>
              <a:buAutoNum type="arabicPeriod"/>
            </a:pPr>
            <a:r>
              <a:rPr lang="en-GB" dirty="0"/>
              <a:t>Information Systems</a:t>
            </a:r>
          </a:p>
          <a:p>
            <a:pPr marL="1397000" lvl="2" indent="-342900">
              <a:buFont typeface="+mj-lt"/>
              <a:buAutoNum type="arabicPeriod"/>
            </a:pPr>
            <a:r>
              <a:rPr lang="en-GB" dirty="0"/>
              <a:t>Computer Networking</a:t>
            </a:r>
          </a:p>
          <a:p>
            <a:pPr lvl="1"/>
            <a:r>
              <a:rPr lang="en-GB" dirty="0"/>
              <a:t>Semester 2</a:t>
            </a:r>
          </a:p>
          <a:p>
            <a:pPr marL="1397000" lvl="2" indent="-342900">
              <a:buFont typeface="+mj-lt"/>
              <a:buAutoNum type="arabicPeriod"/>
            </a:pPr>
            <a:r>
              <a:rPr lang="en-GB" dirty="0"/>
              <a:t>Artificial Intelligence</a:t>
            </a:r>
          </a:p>
          <a:p>
            <a:pPr marL="1397000" lvl="2" indent="-342900">
              <a:buFont typeface="+mj-lt"/>
              <a:buAutoNum type="arabicPeriod"/>
            </a:pPr>
            <a:r>
              <a:rPr lang="en-GB" dirty="0"/>
              <a:t>Cyber Security</a:t>
            </a:r>
          </a:p>
          <a:p>
            <a:pPr marL="114300" indent="0">
              <a:buNone/>
            </a:pPr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965620-4FA8-0233-A906-0E1EDF918DC5}"/>
              </a:ext>
            </a:extLst>
          </p:cNvPr>
          <p:cNvSpPr/>
          <p:nvPr/>
        </p:nvSpPr>
        <p:spPr>
          <a:xfrm>
            <a:off x="4432852" y="2417172"/>
            <a:ext cx="4399448" cy="12920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4300" indent="0">
              <a:buNone/>
            </a:pPr>
            <a:r>
              <a:rPr lang="en-GB" dirty="0"/>
              <a:t>Each part runs for half a semester (6 weeks).</a:t>
            </a:r>
          </a:p>
          <a:p>
            <a:pPr marL="114300" indent="0">
              <a:buNone/>
            </a:pPr>
            <a:r>
              <a:rPr lang="en-GB" dirty="0"/>
              <a:t>Each part has an associated coursework (each worth 25%)</a:t>
            </a:r>
          </a:p>
          <a:p>
            <a:pPr marL="114300" indent="0">
              <a:buNone/>
            </a:pPr>
            <a:r>
              <a:rPr lang="en-GB" dirty="0"/>
              <a:t>You must submit Part 1 in Week 6</a:t>
            </a:r>
          </a:p>
          <a:p>
            <a:pPr marL="114300"/>
            <a:r>
              <a:rPr lang="en-GB" dirty="0"/>
              <a:t>You must submit Part 2 in Week 12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37D935-21A1-4542-8687-EB9FD82DF4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097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CC4B4-7405-A622-8564-665312281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Part 1: Information Systems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EC5F66-EAD1-FE74-F8B9-477570A2CF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How does a computer professional work in an organisation?</a:t>
            </a:r>
          </a:p>
          <a:p>
            <a:r>
              <a:rPr lang="en-GB" dirty="0"/>
              <a:t>Working in a professional manner</a:t>
            </a:r>
          </a:p>
          <a:p>
            <a:r>
              <a:rPr lang="en-GB" dirty="0"/>
              <a:t>Organisation of the programming process</a:t>
            </a:r>
          </a:p>
          <a:p>
            <a:r>
              <a:rPr lang="en-GB" dirty="0"/>
              <a:t>Process standards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7F813C-4648-9CB0-CA64-95952BC8713B}"/>
              </a:ext>
            </a:extLst>
          </p:cNvPr>
          <p:cNvSpPr/>
          <p:nvPr/>
        </p:nvSpPr>
        <p:spPr>
          <a:xfrm>
            <a:off x="1219200" y="3290596"/>
            <a:ext cx="5890727" cy="14078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Computer scientists (of whatever flavour) are applied problem solvers</a:t>
            </a:r>
          </a:p>
          <a:p>
            <a:r>
              <a:rPr lang="en-GB" dirty="0"/>
              <a:t>We generally express our solutions to problems in computer code</a:t>
            </a:r>
          </a:p>
          <a:p>
            <a:r>
              <a:rPr lang="en-GB" dirty="0"/>
              <a:t>But there is far more to being a programmer than writing code!</a:t>
            </a:r>
          </a:p>
          <a:p>
            <a:endParaRPr lang="en-GB" dirty="0"/>
          </a:p>
          <a:p>
            <a:r>
              <a:rPr lang="en-GB" dirty="0"/>
              <a:t>In this part of the module we will look at the context for coding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5378F-0A53-4B2E-A64A-99382D17C7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4097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816AD-DF6D-7F5E-0649-BFF532E3D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4058E-2C7D-7A46-CDF9-25E9439CB7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Each tutor will introduce their coursework, but here is brief introduction</a:t>
            </a:r>
          </a:p>
          <a:p>
            <a:pPr lvl="1"/>
            <a:r>
              <a:rPr lang="en-GB" dirty="0"/>
              <a:t>Information Systems: Carry out an activity as a group and reflect on how you worked</a:t>
            </a:r>
          </a:p>
          <a:p>
            <a:pPr lvl="1"/>
            <a:r>
              <a:rPr lang="en-GB" dirty="0"/>
              <a:t>Networking: build a small network in a simulator package.</a:t>
            </a:r>
          </a:p>
          <a:p>
            <a:pPr lvl="1"/>
            <a:r>
              <a:rPr lang="en-GB" dirty="0"/>
              <a:t>Artificial Intelligence: build decision trees to solve a problem.</a:t>
            </a:r>
          </a:p>
          <a:p>
            <a:pPr lvl="1"/>
            <a:r>
              <a:rPr lang="en-GB" dirty="0"/>
              <a:t>Cyber Security: Carry out a Pentest and write a report on it.</a:t>
            </a:r>
          </a:p>
          <a:p>
            <a:pPr lvl="1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22EC3-0775-442C-A4AA-8BABFF96E40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0808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75D43-CD68-F736-B536-46F031559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Coursework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233FB-EB94-9A50-6415-E0F214B968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GB" dirty="0"/>
              <a:t>In this coursework, you will be working in a group to develop an initial specification for a computer system.</a:t>
            </a:r>
          </a:p>
          <a:p>
            <a:pPr marL="114300" indent="0">
              <a:buNone/>
            </a:pPr>
            <a:r>
              <a:rPr lang="en-GB" dirty="0"/>
              <a:t>You will submit an individual report and a </a:t>
            </a:r>
            <a:r>
              <a:rPr lang="en-GB"/>
              <a:t>group report </a:t>
            </a:r>
            <a:r>
              <a:rPr lang="en-GB" dirty="0"/>
              <a:t>on the part of the work that you carried out and you will reflect on how well the team worked and on your role in the team.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45FCA-28E1-4518-9900-52E3555E26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5454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90FBA-84B6-AE23-A758-F9B5028D8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computing professional?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3DE5A-15ED-4E64-D696-B70415EDE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GB" dirty="0"/>
              <a:t>Possible ways to define it:</a:t>
            </a:r>
          </a:p>
          <a:p>
            <a:endParaRPr lang="en-GB" dirty="0"/>
          </a:p>
          <a:p>
            <a:r>
              <a:rPr lang="en-GB" dirty="0"/>
              <a:t>Creator versus consumer?</a:t>
            </a:r>
          </a:p>
          <a:p>
            <a:endParaRPr lang="en-GB" dirty="0"/>
          </a:p>
          <a:p>
            <a:r>
              <a:rPr lang="en-GB" dirty="0"/>
              <a:t>Someone who works in a particular subject area?</a:t>
            </a:r>
          </a:p>
          <a:p>
            <a:endParaRPr lang="en-GB" dirty="0"/>
          </a:p>
          <a:p>
            <a:r>
              <a:rPr lang="en-GB" dirty="0"/>
              <a:t>Someone who writes code?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EA4BFED-098F-2516-1436-0D5BA00F3729}"/>
              </a:ext>
            </a:extLst>
          </p:cNvPr>
          <p:cNvSpPr/>
          <p:nvPr/>
        </p:nvSpPr>
        <p:spPr>
          <a:xfrm>
            <a:off x="727788" y="3951260"/>
            <a:ext cx="5025012" cy="8273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Perhaps a skill-based analysis would be more effective</a:t>
            </a:r>
          </a:p>
          <a:p>
            <a:pPr algn="ctr"/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01A88-E8C7-4D64-8E78-3DFEBF33F0E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1132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F3796-0E4F-A551-814C-BE4702B61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skillset does a professional programmer need?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81010-1733-AF30-4795-EDD6CFB1E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Analytical thinking</a:t>
            </a:r>
          </a:p>
          <a:p>
            <a:r>
              <a:rPr lang="en-GB" dirty="0"/>
              <a:t>Logical thought</a:t>
            </a:r>
          </a:p>
          <a:p>
            <a:r>
              <a:rPr lang="en-GB" dirty="0"/>
              <a:t>Understanding of process</a:t>
            </a:r>
          </a:p>
          <a:p>
            <a:r>
              <a:rPr lang="en-GB" dirty="0"/>
              <a:t>Knowledge of programming languages</a:t>
            </a:r>
          </a:p>
          <a:p>
            <a:r>
              <a:rPr lang="en-GB" dirty="0"/>
              <a:t>Capability in using programming tools.</a:t>
            </a:r>
          </a:p>
          <a:p>
            <a:r>
              <a:rPr lang="en-GB" dirty="0"/>
              <a:t>Communication and presentation skills</a:t>
            </a:r>
          </a:p>
          <a:p>
            <a:r>
              <a:rPr lang="en-GB" dirty="0"/>
              <a:t>Planning skills</a:t>
            </a:r>
          </a:p>
          <a:p>
            <a:r>
              <a:rPr lang="en-GB" dirty="0"/>
              <a:t>Collaboration skills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F9F37E-3141-E49D-876F-88AB5EB9DB93}"/>
              </a:ext>
            </a:extLst>
          </p:cNvPr>
          <p:cNvSpPr/>
          <p:nvPr/>
        </p:nvSpPr>
        <p:spPr>
          <a:xfrm>
            <a:off x="1828800" y="3991025"/>
            <a:ext cx="5386874" cy="7705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Programming is not just designing, writing and testing code. </a:t>
            </a:r>
          </a:p>
          <a:p>
            <a:r>
              <a:rPr lang="en-GB" dirty="0"/>
              <a:t>We are going to look at the bits beyond the core code-development cycle.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18282B-40E0-4407-8540-8C0CCBAD97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2847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9245A-6A09-8BB1-623F-2AE8603E8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development process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34A306-D64C-FD29-FDF2-3EB4B754F5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Requirements</a:t>
            </a:r>
          </a:p>
          <a:p>
            <a:r>
              <a:rPr lang="en-GB" dirty="0"/>
              <a:t>Analysis</a:t>
            </a:r>
          </a:p>
          <a:p>
            <a:r>
              <a:rPr lang="en-GB" dirty="0"/>
              <a:t>Design</a:t>
            </a:r>
          </a:p>
          <a:p>
            <a:r>
              <a:rPr lang="en-GB" dirty="0"/>
              <a:t>Coding/Implementation</a:t>
            </a:r>
          </a:p>
          <a:p>
            <a:r>
              <a:rPr lang="en-GB" dirty="0"/>
              <a:t>Testing</a:t>
            </a:r>
          </a:p>
          <a:p>
            <a:r>
              <a:rPr lang="en-GB" dirty="0"/>
              <a:t>Operation/Deployment</a:t>
            </a:r>
          </a:p>
          <a:p>
            <a:r>
              <a:rPr lang="en-GB" dirty="0"/>
              <a:t>Maintenance</a:t>
            </a:r>
          </a:p>
        </p:txBody>
      </p:sp>
      <p:sp>
        <p:nvSpPr>
          <p:cNvPr id="4" name="Callout: Left Arrow 3">
            <a:extLst>
              <a:ext uri="{FF2B5EF4-FFF2-40B4-BE49-F238E27FC236}">
                <a16:creationId xmlns:a16="http://schemas.microsoft.com/office/drawing/2014/main" id="{86196D9C-CF5E-7A1D-789C-516FDF21029E}"/>
              </a:ext>
            </a:extLst>
          </p:cNvPr>
          <p:cNvSpPr/>
          <p:nvPr/>
        </p:nvSpPr>
        <p:spPr>
          <a:xfrm>
            <a:off x="3048000" y="1272209"/>
            <a:ext cx="3962400" cy="914400"/>
          </a:xfrm>
          <a:prstGeom prst="lef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If we don’t get these first three right, it doesn’t matter how good the code is – we’re building the wrong system.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E0D1AB-FEB3-4FEF-A0E9-3EE880E55B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00983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56289-A59E-F5F4-7667-53A6186A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context for coding: the Business Organisation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EEE4F3-6D31-7A9C-D231-C32AC99156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948387" cy="2544882"/>
          </a:xfrm>
        </p:spPr>
        <p:txBody>
          <a:bodyPr/>
          <a:lstStyle/>
          <a:p>
            <a:r>
              <a:rPr lang="en-GB" sz="1400" dirty="0"/>
              <a:t>Here is an example of where an Information and Communications Technology (ICT) system fits in an organisation</a:t>
            </a:r>
          </a:p>
          <a:p>
            <a:pPr lvl="1">
              <a:spcBef>
                <a:spcPts val="0"/>
              </a:spcBef>
            </a:pPr>
            <a:r>
              <a:rPr lang="en-GB" dirty="0"/>
              <a:t>It exists in a larger environment</a:t>
            </a:r>
          </a:p>
          <a:p>
            <a:pPr lvl="1">
              <a:spcBef>
                <a:spcPts val="0"/>
              </a:spcBef>
            </a:pPr>
            <a:r>
              <a:rPr lang="en-GB" dirty="0"/>
              <a:t>It is just one of the company’s information systems</a:t>
            </a:r>
          </a:p>
          <a:p>
            <a:pPr lvl="1">
              <a:spcBef>
                <a:spcPts val="0"/>
              </a:spcBef>
            </a:pPr>
            <a:r>
              <a:rPr lang="en-GB" dirty="0"/>
              <a:t>The information systems underpin the activities that take place</a:t>
            </a:r>
          </a:p>
          <a:p>
            <a:pPr lvl="1">
              <a:spcBef>
                <a:spcPts val="0"/>
              </a:spcBef>
            </a:pPr>
            <a:r>
              <a:rPr lang="en-GB" dirty="0"/>
              <a:t>The activities define the business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46AC86-BC4F-7363-B7D0-5344127F1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025" y="1017725"/>
            <a:ext cx="3948387" cy="39671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A712D2D-F936-1A4E-F521-273074AE7B93}"/>
              </a:ext>
            </a:extLst>
          </p:cNvPr>
          <p:cNvSpPr/>
          <p:nvPr/>
        </p:nvSpPr>
        <p:spPr>
          <a:xfrm>
            <a:off x="185530" y="3869635"/>
            <a:ext cx="4154557" cy="8288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Building this system without an understanding of the larger context would not work.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7047BD-9824-ECE1-1667-F4D4AABA2A7F}"/>
              </a:ext>
            </a:extLst>
          </p:cNvPr>
          <p:cNvSpPr txBox="1"/>
          <p:nvPr/>
        </p:nvSpPr>
        <p:spPr>
          <a:xfrm>
            <a:off x="3619744" y="4842576"/>
            <a:ext cx="57352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Ref: Business Information Systems 3</a:t>
            </a:r>
            <a:r>
              <a:rPr lang="en-GB" sz="1200" baseline="30000" dirty="0"/>
              <a:t>rd</a:t>
            </a:r>
            <a:r>
              <a:rPr lang="en-GB" sz="1200" dirty="0"/>
              <a:t> Ed, Paul Benyon-Davis, Macmillan 2019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14645-1A81-42C1-B3FA-6BF0F00FD2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4878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DB12F-982C-8D27-C49A-5036A6F9C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Business Organisation – Stakeholders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B3EB6-6AF3-BE35-CE79-6F340AA4D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3982004" cy="3626100"/>
          </a:xfrm>
        </p:spPr>
        <p:txBody>
          <a:bodyPr/>
          <a:lstStyle/>
          <a:p>
            <a:r>
              <a:rPr lang="en-GB" dirty="0"/>
              <a:t>Developers </a:t>
            </a:r>
            <a:r>
              <a:rPr lang="en-GB" i="1" dirty="0"/>
              <a:t>build</a:t>
            </a:r>
            <a:r>
              <a:rPr lang="en-GB" dirty="0"/>
              <a:t> systems</a:t>
            </a:r>
          </a:p>
          <a:p>
            <a:r>
              <a:rPr lang="en-GB" dirty="0"/>
              <a:t>Users </a:t>
            </a:r>
            <a:r>
              <a:rPr lang="en-GB" i="1" dirty="0"/>
              <a:t>use</a:t>
            </a:r>
            <a:r>
              <a:rPr lang="en-GB" dirty="0"/>
              <a:t> them</a:t>
            </a:r>
          </a:p>
          <a:p>
            <a:r>
              <a:rPr lang="en-GB" dirty="0"/>
              <a:t>But there is much more to it than that…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E7BB82-AA0A-1476-88C9-BD56D323A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371" y="1152475"/>
            <a:ext cx="4591691" cy="26578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4EBD19-FC7F-ABAE-2504-93DEEC1909E5}"/>
              </a:ext>
            </a:extLst>
          </p:cNvPr>
          <p:cNvSpPr txBox="1"/>
          <p:nvPr/>
        </p:nvSpPr>
        <p:spPr>
          <a:xfrm>
            <a:off x="2001297" y="4778575"/>
            <a:ext cx="72250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Ref: Business Information Systems and Technology: A primer, Lehaney, Lovett &amp; Shah, Routledge 2011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761C3-03A7-4ED1-B6CA-D5960E26566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550000" y="44470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4920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0CFEA-90B5-BE4C-6774-A8F75E33E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starting point: Requirements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55A59-41BA-CCCC-687B-EBAF2D451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152475"/>
            <a:ext cx="6717361" cy="3626100"/>
          </a:xfrm>
        </p:spPr>
        <p:txBody>
          <a:bodyPr/>
          <a:lstStyle/>
          <a:p>
            <a:r>
              <a:rPr lang="en-GB" dirty="0"/>
              <a:t>We need to know what the system needs to do</a:t>
            </a:r>
          </a:p>
          <a:p>
            <a:endParaRPr lang="en-GB" dirty="0"/>
          </a:p>
          <a:p>
            <a:r>
              <a:rPr lang="en-GB" dirty="0"/>
              <a:t>We elicit a set of requirements to understand the activities that will take place</a:t>
            </a:r>
          </a:p>
          <a:p>
            <a:endParaRPr lang="en-GB" dirty="0"/>
          </a:p>
          <a:p>
            <a:r>
              <a:rPr lang="en-GB" dirty="0"/>
              <a:t>The functionality of the system will support these activities</a:t>
            </a:r>
          </a:p>
          <a:p>
            <a:pPr>
              <a:spcBef>
                <a:spcPts val="600"/>
              </a:spcBef>
            </a:pPr>
            <a:endParaRPr lang="en-GB" dirty="0"/>
          </a:p>
          <a:p>
            <a:pPr>
              <a:spcBef>
                <a:spcPts val="600"/>
              </a:spcBef>
            </a:pPr>
            <a:r>
              <a:rPr lang="en-GB" dirty="0"/>
              <a:t>We need to speak to both users and other stakeholders</a:t>
            </a:r>
          </a:p>
          <a:p>
            <a:pPr>
              <a:spcBef>
                <a:spcPts val="600"/>
              </a:spcBef>
            </a:pPr>
            <a:endParaRPr lang="en-GB" dirty="0"/>
          </a:p>
          <a:p>
            <a:pPr>
              <a:spcBef>
                <a:spcPts val="600"/>
              </a:spcBef>
            </a:pPr>
            <a:r>
              <a:rPr lang="en-GB" dirty="0"/>
              <a:t>We consider the current system and what can be learned from it</a:t>
            </a:r>
          </a:p>
          <a:p>
            <a:pPr marL="596900" lvl="1" indent="0">
              <a:spcBef>
                <a:spcPts val="600"/>
              </a:spcBef>
              <a:buNone/>
            </a:pPr>
            <a:r>
              <a:rPr lang="en-GB" dirty="0"/>
              <a:t>	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1D5058-32C7-6B79-FC5F-AFB94016A890}"/>
              </a:ext>
            </a:extLst>
          </p:cNvPr>
          <p:cNvSpPr/>
          <p:nvPr/>
        </p:nvSpPr>
        <p:spPr>
          <a:xfrm>
            <a:off x="7103708" y="1807662"/>
            <a:ext cx="1728592" cy="15281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spcBef>
                <a:spcPts val="600"/>
              </a:spcBef>
            </a:pPr>
            <a:r>
              <a:rPr lang="en-GB" dirty="0"/>
              <a:t>We thus consider the activity system as well as the technical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79383-E2E9-4A60-A6FC-9291202C3D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0477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A28BB-C001-39B9-60D5-5C1B886DD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Methods for Requirements Elicitation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B2F05-D197-5053-4691-F68EEDBFC9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Interviews</a:t>
            </a:r>
          </a:p>
          <a:p>
            <a:r>
              <a:rPr lang="en-GB" dirty="0"/>
              <a:t>Questionnaires</a:t>
            </a:r>
          </a:p>
          <a:p>
            <a:r>
              <a:rPr lang="en-GB" dirty="0"/>
              <a:t>Observation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C28A2-4E2B-43BB-A121-13D0E85BEC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9423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9AA50-AD0F-6E2B-11C6-201405BB2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Scenarios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680DA-2D4E-EC73-83DA-3B0BF4D54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 scenario is a story or narrative that describes some part of the operations.</a:t>
            </a:r>
          </a:p>
          <a:p>
            <a:r>
              <a:rPr lang="en-GB" dirty="0"/>
              <a:t>It will use actual characters and tasks: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A6F8DB-CA6D-BE49-66DA-7F1265E540DB}"/>
              </a:ext>
            </a:extLst>
          </p:cNvPr>
          <p:cNvSpPr/>
          <p:nvPr/>
        </p:nvSpPr>
        <p:spPr>
          <a:xfrm>
            <a:off x="1511559" y="2054801"/>
            <a:ext cx="5772539" cy="24819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spcBef>
                <a:spcPts val="600"/>
              </a:spcBef>
            </a:pPr>
            <a:r>
              <a:rPr lang="en-GB" dirty="0"/>
              <a:t>A scenario:</a:t>
            </a:r>
          </a:p>
          <a:p>
            <a:pPr lvl="1">
              <a:spcBef>
                <a:spcPts val="600"/>
              </a:spcBef>
            </a:pPr>
            <a:r>
              <a:rPr lang="en-GB" dirty="0"/>
              <a:t>Mary asks the salesperson for a ticket for that night’s performance</a:t>
            </a:r>
          </a:p>
          <a:p>
            <a:pPr lvl="1">
              <a:spcBef>
                <a:spcPts val="600"/>
              </a:spcBef>
            </a:pPr>
            <a:r>
              <a:rPr lang="en-GB" dirty="0"/>
              <a:t>The salesperson asks Mary where she would like to sit</a:t>
            </a:r>
          </a:p>
          <a:p>
            <a:pPr lvl="1">
              <a:spcBef>
                <a:spcPts val="600"/>
              </a:spcBef>
            </a:pPr>
            <a:r>
              <a:rPr lang="en-GB" dirty="0"/>
              <a:t>Mary picks a seat</a:t>
            </a:r>
          </a:p>
          <a:p>
            <a:pPr lvl="1">
              <a:spcBef>
                <a:spcPts val="600"/>
              </a:spcBef>
            </a:pPr>
            <a:r>
              <a:rPr lang="en-GB" dirty="0"/>
              <a:t>The salesperson confirms the availability and price </a:t>
            </a:r>
          </a:p>
          <a:p>
            <a:pPr lvl="1">
              <a:spcBef>
                <a:spcPts val="600"/>
              </a:spcBef>
            </a:pPr>
            <a:r>
              <a:rPr lang="en-GB" dirty="0"/>
              <a:t>Mary offers payment</a:t>
            </a:r>
          </a:p>
          <a:p>
            <a:pPr lvl="1">
              <a:spcBef>
                <a:spcPts val="600"/>
              </a:spcBef>
            </a:pPr>
            <a:r>
              <a:rPr lang="en-GB" dirty="0"/>
              <a:t>The salesperson marks the seat as booked and generates a ticket that they give to Mary</a:t>
            </a:r>
          </a:p>
          <a:p>
            <a:pPr algn="ctr"/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D57D9F-A0B1-4DAE-9A03-7453DBD14F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2560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B1DC3-8AA7-30CE-E188-D87DBE283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Generating Requirements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2D8C83-507A-6BE4-4A9A-7DDC751EB0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Identify domain properties and hypotheses from the scenarios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Identify any problems in the current system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Set objectives or goals for the system to be built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EDCDB5-8D1D-84D4-A4A5-0BB772FE377F}"/>
              </a:ext>
            </a:extLst>
          </p:cNvPr>
          <p:cNvSpPr/>
          <p:nvPr/>
        </p:nvSpPr>
        <p:spPr>
          <a:xfrm>
            <a:off x="3271254" y="1545369"/>
            <a:ext cx="5515071" cy="6407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Properties:  tickets, seats</a:t>
            </a:r>
          </a:p>
          <a:p>
            <a:r>
              <a:rPr lang="en-GB" dirty="0"/>
              <a:t>Hypotheses: seat pricing varies depending on seat position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B1666C-095C-0F3D-9F08-A9896CA7754B}"/>
              </a:ext>
            </a:extLst>
          </p:cNvPr>
          <p:cNvSpPr/>
          <p:nvPr/>
        </p:nvSpPr>
        <p:spPr>
          <a:xfrm>
            <a:off x="3271255" y="2458361"/>
            <a:ext cx="5515071" cy="6407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Problem: Current paper-based system doesn’t allow for showing prices on the seat map, as prices vary for different shows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C1E0E4-3DB9-F9A2-9247-261E72CC718A}"/>
              </a:ext>
            </a:extLst>
          </p:cNvPr>
          <p:cNvSpPr/>
          <p:nvPr/>
        </p:nvSpPr>
        <p:spPr>
          <a:xfrm>
            <a:off x="3271255" y="3545232"/>
            <a:ext cx="5515071" cy="6407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Goal: the new system will allow customers to see seat location, availability and cost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00BC1-E324-4EE8-B17B-C7AB18035E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9241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97587-4AC3-15FA-13EC-F76CF13EA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Objective/Goal Decomposition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20059-1E3C-B659-731B-12C2BF52C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Goals can be broken down into sub-goals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Requirements can be identified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Expectation can be identified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D5A683-D6BB-893E-D853-E02A379F59A3}"/>
              </a:ext>
            </a:extLst>
          </p:cNvPr>
          <p:cNvSpPr/>
          <p:nvPr/>
        </p:nvSpPr>
        <p:spPr>
          <a:xfrm>
            <a:off x="3271251" y="2346191"/>
            <a:ext cx="5515071" cy="6407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Sub-goal: Seat map shows currently available seating</a:t>
            </a:r>
          </a:p>
          <a:p>
            <a:r>
              <a:rPr lang="en-GB" dirty="0"/>
              <a:t>Sub-goal: Seat map shows pricing for each seating block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33AE6B-598B-B1B1-80A9-D666580DA274}"/>
              </a:ext>
            </a:extLst>
          </p:cNvPr>
          <p:cNvSpPr/>
          <p:nvPr/>
        </p:nvSpPr>
        <p:spPr>
          <a:xfrm>
            <a:off x="3271252" y="3471885"/>
            <a:ext cx="5515071" cy="6407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Seats can be selected on the seat map</a:t>
            </a:r>
          </a:p>
          <a:p>
            <a:r>
              <a:rPr lang="en-GB" dirty="0"/>
              <a:t>Seat availability is updated as soon as a sale is made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CBAEE8-2F11-3F9C-0076-9FAE184216B3}"/>
              </a:ext>
            </a:extLst>
          </p:cNvPr>
          <p:cNvSpPr/>
          <p:nvPr/>
        </p:nvSpPr>
        <p:spPr>
          <a:xfrm>
            <a:off x="3271253" y="4378123"/>
            <a:ext cx="5515071" cy="6407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Seat map should accurately reflect the physical position of seats in the auditorium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A909D2-1F5C-92B9-EBA9-2E2805F7F469}"/>
              </a:ext>
            </a:extLst>
          </p:cNvPr>
          <p:cNvSpPr/>
          <p:nvPr/>
        </p:nvSpPr>
        <p:spPr>
          <a:xfrm>
            <a:off x="3271251" y="1638113"/>
            <a:ext cx="5515071" cy="6407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Goal: the new system will allow customers to see seat location, availability and cost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FB2923A-5F3F-4DB1-A288-9C3314BDA0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12378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98F84-8804-9251-E657-D13602F08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Functional Requirements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8AFCBC-B1A3-9016-A3C7-146EF5787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Functional requirements:</a:t>
            </a:r>
          </a:p>
          <a:p>
            <a:pPr lvl="1"/>
            <a:r>
              <a:rPr lang="en-GB" dirty="0"/>
              <a:t>describe the intended functions that the new software will provide</a:t>
            </a:r>
          </a:p>
          <a:p>
            <a:pPr lvl="1"/>
            <a:r>
              <a:rPr lang="en-GB" dirty="0"/>
              <a:t>can be given priorities related to their perceived importance or risk</a:t>
            </a:r>
          </a:p>
          <a:p>
            <a:pPr lvl="1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3FA780-91AE-EA04-7C45-82EEBC194171}"/>
              </a:ext>
            </a:extLst>
          </p:cNvPr>
          <p:cNvSpPr/>
          <p:nvPr/>
        </p:nvSpPr>
        <p:spPr>
          <a:xfrm>
            <a:off x="1424473" y="3048000"/>
            <a:ext cx="4366727" cy="7713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Priorities should be assessed in terms of the goals/objectives that they help to meet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867215-074C-460D-BB70-7A4C45A7D3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16861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7CA1E-AA0C-E96B-2552-CEAF86EB2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Non-functional Requirements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B04B1-38CF-ABA3-6029-F148BAC8BD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These are requirements that describe how the software will operate</a:t>
            </a:r>
          </a:p>
          <a:p>
            <a:r>
              <a:rPr lang="en-GB" dirty="0"/>
              <a:t>Can include things such as:</a:t>
            </a:r>
          </a:p>
          <a:p>
            <a:pPr lvl="1">
              <a:spcBef>
                <a:spcPts val="600"/>
              </a:spcBef>
            </a:pPr>
            <a:r>
              <a:rPr lang="en-GB" sz="2000" dirty="0"/>
              <a:t>Performance</a:t>
            </a:r>
          </a:p>
          <a:p>
            <a:pPr lvl="1">
              <a:spcBef>
                <a:spcPts val="600"/>
              </a:spcBef>
            </a:pPr>
            <a:r>
              <a:rPr lang="en-GB" sz="2000" dirty="0"/>
              <a:t>Reliability</a:t>
            </a:r>
          </a:p>
          <a:p>
            <a:pPr lvl="1">
              <a:spcBef>
                <a:spcPts val="600"/>
              </a:spcBef>
            </a:pPr>
            <a:r>
              <a:rPr lang="en-GB" sz="2000" dirty="0"/>
              <a:t>Usability</a:t>
            </a:r>
          </a:p>
          <a:p>
            <a:pPr lvl="1">
              <a:spcBef>
                <a:spcPts val="600"/>
              </a:spcBef>
            </a:pPr>
            <a:r>
              <a:rPr lang="en-GB" sz="2000" dirty="0"/>
              <a:t>Security </a:t>
            </a:r>
          </a:p>
          <a:p>
            <a:pPr lvl="1">
              <a:spcBef>
                <a:spcPts val="600"/>
              </a:spcBef>
            </a:pPr>
            <a:r>
              <a:rPr lang="en-GB" sz="2000" dirty="0"/>
              <a:t>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18ACB-0955-4367-BC12-561D7BA130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04552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33417-370C-C975-31AB-BC2E44078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do we go from here?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CB0EB1-9298-6B86-999C-A681A01E2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7034602" cy="3626100"/>
          </a:xfrm>
        </p:spPr>
        <p:txBody>
          <a:bodyPr/>
          <a:lstStyle/>
          <a:p>
            <a:r>
              <a:rPr lang="en-GB" dirty="0"/>
              <a:t>Functional and non-functional requirements are a starting point</a:t>
            </a:r>
          </a:p>
          <a:p>
            <a:r>
              <a:rPr lang="en-GB" dirty="0"/>
              <a:t>If we consider the </a:t>
            </a:r>
            <a:r>
              <a:rPr lang="en-GB" i="1" dirty="0"/>
              <a:t>actors</a:t>
            </a:r>
            <a:r>
              <a:rPr lang="en-GB" dirty="0"/>
              <a:t> involved in carrying out the functions we can generate </a:t>
            </a:r>
            <a:r>
              <a:rPr lang="en-GB" i="1" dirty="0"/>
              <a:t>use cases</a:t>
            </a:r>
            <a:r>
              <a:rPr lang="en-GB" dirty="0"/>
              <a:t>.</a:t>
            </a:r>
          </a:p>
          <a:p>
            <a:r>
              <a:rPr lang="en-GB" dirty="0"/>
              <a:t>Use-case diagrams show how each actor is involved in carrying out a function</a:t>
            </a:r>
          </a:p>
          <a:p>
            <a:r>
              <a:rPr lang="en-GB" dirty="0"/>
              <a:t>Once we know what the system needs to do, we can design a solution in the form of data structures and functionality</a:t>
            </a:r>
          </a:p>
          <a:p>
            <a:r>
              <a:rPr lang="en-GB" dirty="0"/>
              <a:t>Once we have a design we can write code to meet it.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5" name="Callout: Left Arrow 4">
            <a:extLst>
              <a:ext uri="{FF2B5EF4-FFF2-40B4-BE49-F238E27FC236}">
                <a16:creationId xmlns:a16="http://schemas.microsoft.com/office/drawing/2014/main" id="{15B0FA77-7D92-6B35-4CA4-DC068EAA8530}"/>
              </a:ext>
            </a:extLst>
          </p:cNvPr>
          <p:cNvSpPr/>
          <p:nvPr/>
        </p:nvSpPr>
        <p:spPr>
          <a:xfrm>
            <a:off x="6862727" y="1152475"/>
            <a:ext cx="2133600" cy="2467413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5721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Use-case diagrams are a starting point for modelling systems using </a:t>
            </a:r>
            <a:r>
              <a:rPr lang="en-GB" i="1" dirty="0"/>
              <a:t>Unified Modeling Language </a:t>
            </a:r>
            <a:r>
              <a:rPr lang="en-GB" dirty="0"/>
              <a:t>(UML)</a:t>
            </a:r>
          </a:p>
          <a:p>
            <a:pPr algn="ctr"/>
            <a:endParaRPr lang="en-GB" dirty="0"/>
          </a:p>
        </p:txBody>
      </p:sp>
      <p:sp>
        <p:nvSpPr>
          <p:cNvPr id="6" name="Callout: Up Arrow 5">
            <a:extLst>
              <a:ext uri="{FF2B5EF4-FFF2-40B4-BE49-F238E27FC236}">
                <a16:creationId xmlns:a16="http://schemas.microsoft.com/office/drawing/2014/main" id="{CF60D5A2-EBA0-A53F-2435-AF1658392639}"/>
              </a:ext>
            </a:extLst>
          </p:cNvPr>
          <p:cNvSpPr/>
          <p:nvPr/>
        </p:nvSpPr>
        <p:spPr>
          <a:xfrm>
            <a:off x="2158480" y="3806092"/>
            <a:ext cx="2954695" cy="1107233"/>
          </a:xfrm>
          <a:prstGeom prst="up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Code is the definition of data structures and the actions to be carried out on the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6B462-4553-4DB9-9A7E-75DF543970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01184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5B0E1-DA50-8E00-B1D2-0DBA653A4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C398B-E375-BB11-F0C1-690EE5054B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 computing professional applies their skills in a professional manner</a:t>
            </a:r>
          </a:p>
          <a:p>
            <a:r>
              <a:rPr lang="en-GB" dirty="0"/>
              <a:t>Their skillset goes beyond the technical</a:t>
            </a:r>
          </a:p>
          <a:p>
            <a:r>
              <a:rPr lang="en-GB" dirty="0"/>
              <a:t>Computer systems exist in a context</a:t>
            </a:r>
          </a:p>
          <a:p>
            <a:r>
              <a:rPr lang="en-GB" dirty="0"/>
              <a:t>Understanding this context is vital to developing</a:t>
            </a:r>
          </a:p>
          <a:p>
            <a:r>
              <a:rPr lang="en-GB" dirty="0"/>
              <a:t> effective systems</a:t>
            </a:r>
          </a:p>
          <a:p>
            <a:r>
              <a:rPr lang="en-GB" dirty="0"/>
              <a:t>Requirements elicitation allows the specification of what a system needs to do by considering system functionality in the larger context of the tasks that users are carrying out and the environment in which they do so.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6D210D-DDB7-4ED7-9F93-C10F1E843A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495066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Brookes (Light-Gold)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EEEEEE"/>
      </a:lt2>
      <a:accent1>
        <a:srgbClr val="D10373"/>
      </a:accent1>
      <a:accent2>
        <a:srgbClr val="212121"/>
      </a:accent2>
      <a:accent3>
        <a:srgbClr val="78909C"/>
      </a:accent3>
      <a:accent4>
        <a:srgbClr val="F49103"/>
      </a:accent4>
      <a:accent5>
        <a:srgbClr val="0085A1"/>
      </a:accent5>
      <a:accent6>
        <a:srgbClr val="E3BA12"/>
      </a:accent6>
      <a:hlink>
        <a:srgbClr val="00389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6-9 Simple Brookes (Light-Yellow).potx" id="{8E979E13-5422-4028-8AFF-ADB19E7BC6FF}" vid="{0E1B2CC5-5B5E-4565-BB30-941E15A3E032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16-9 Simple Brookes (Light-Yellow)-2023</Template>
  <TotalTime>2180</TotalTime>
  <Words>1147</Words>
  <Application>Microsoft Office PowerPoint</Application>
  <PresentationFormat>On-screen Show (16:9)</PresentationFormat>
  <Paragraphs>190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3" baseType="lpstr">
      <vt:lpstr>Arial</vt:lpstr>
      <vt:lpstr>Simple Brookes (Light-Gold)</vt:lpstr>
      <vt:lpstr>COMP4035 Computer Science Applications</vt:lpstr>
      <vt:lpstr>Lecture 1: Why am I here?</vt:lpstr>
      <vt:lpstr>Today’s lecture</vt:lpstr>
      <vt:lpstr>The structure of the module</vt:lpstr>
      <vt:lpstr>Part 1: Information Systems</vt:lpstr>
      <vt:lpstr>Coursework</vt:lpstr>
      <vt:lpstr>Coursework 1</vt:lpstr>
      <vt:lpstr>What is a computing professional?</vt:lpstr>
      <vt:lpstr>What skillset does a professional programmer need?</vt:lpstr>
      <vt:lpstr>The development process</vt:lpstr>
      <vt:lpstr>The context for coding: the Business Organisation</vt:lpstr>
      <vt:lpstr>The Business Organisation – Stakeholders</vt:lpstr>
      <vt:lpstr>The starting point: Requirements</vt:lpstr>
      <vt:lpstr>Methods for Requirements Elicitation</vt:lpstr>
      <vt:lpstr>Scenarios </vt:lpstr>
      <vt:lpstr>Generating Requirements</vt:lpstr>
      <vt:lpstr>Objective/Goal Decomposition</vt:lpstr>
      <vt:lpstr>Functional Requirements</vt:lpstr>
      <vt:lpstr>Non-functional Requirements</vt:lpstr>
      <vt:lpstr>Where do we go from here?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COMP4035 Computer Science Applications</dc:title>
  <dc:creator>Pete M</dc:creator>
  <cp:lastModifiedBy>David Lightfoot</cp:lastModifiedBy>
  <cp:revision>11</cp:revision>
  <dcterms:created xsi:type="dcterms:W3CDTF">2023-09-24T11:56:07Z</dcterms:created>
  <dcterms:modified xsi:type="dcterms:W3CDTF">2026-09-13T15:15:19Z</dcterms:modified>
</cp:coreProperties>
</file>