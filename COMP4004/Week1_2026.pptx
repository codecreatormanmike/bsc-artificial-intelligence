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0"/>
  </p:notesMasterIdLst>
  <p:sldIdLst>
    <p:sldId id="256" r:id="rId2"/>
    <p:sldId id="294" r:id="rId3"/>
    <p:sldId id="259" r:id="rId4"/>
    <p:sldId id="262" r:id="rId5"/>
    <p:sldId id="260" r:id="rId6"/>
    <p:sldId id="257" r:id="rId7"/>
    <p:sldId id="295" r:id="rId8"/>
    <p:sldId id="261" r:id="rId9"/>
    <p:sldId id="265" r:id="rId10"/>
    <p:sldId id="272" r:id="rId11"/>
    <p:sldId id="274" r:id="rId12"/>
    <p:sldId id="275" r:id="rId13"/>
    <p:sldId id="276" r:id="rId14"/>
    <p:sldId id="277" r:id="rId15"/>
    <p:sldId id="280" r:id="rId16"/>
    <p:sldId id="278" r:id="rId17"/>
    <p:sldId id="279" r:id="rId18"/>
    <p:sldId id="281" r:id="rId19"/>
    <p:sldId id="282" r:id="rId20"/>
    <p:sldId id="283" r:id="rId21"/>
    <p:sldId id="284" r:id="rId22"/>
    <p:sldId id="285" r:id="rId23"/>
    <p:sldId id="289" r:id="rId24"/>
    <p:sldId id="287" r:id="rId25"/>
    <p:sldId id="296" r:id="rId26"/>
    <p:sldId id="290" r:id="rId27"/>
    <p:sldId id="291" r:id="rId28"/>
    <p:sldId id="266" r:id="rId29"/>
    <p:sldId id="267" r:id="rId30"/>
    <p:sldId id="268" r:id="rId31"/>
    <p:sldId id="269" r:id="rId32"/>
    <p:sldId id="270" r:id="rId33"/>
    <p:sldId id="297" r:id="rId34"/>
    <p:sldId id="298" r:id="rId35"/>
    <p:sldId id="300" r:id="rId36"/>
    <p:sldId id="299" r:id="rId37"/>
    <p:sldId id="292" r:id="rId38"/>
    <p:sldId id="293" r:id="rId3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74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948e024fa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948e024fa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9297d9c992_4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9297d9c992_4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" name="Picture 6" descr="Brookes Logo">
            <a:extLst>
              <a:ext uri="{FF2B5EF4-FFF2-40B4-BE49-F238E27FC236}">
                <a16:creationId xmlns:a16="http://schemas.microsoft.com/office/drawing/2014/main" id="{104799B9-558F-41D2-B410-7E2E4D4F57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33306" y="207119"/>
            <a:ext cx="2224517" cy="8873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D4EA8C-302A-41A3-9567-55C9A95341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15125"/>
            <a:ext cx="9144000" cy="1428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557E3-3A47-4086-B544-0F4B3BE1E4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15125"/>
            <a:ext cx="9144000" cy="142875"/>
          </a:xfrm>
          <a:prstGeom prst="rect">
            <a:avLst/>
          </a:prstGeom>
        </p:spPr>
      </p:pic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11151" y="1539875"/>
            <a:ext cx="8521150" cy="46783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3418CF-D317-4C51-BFFB-62DE694F0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15125"/>
            <a:ext cx="9144000" cy="142875"/>
          </a:xfrm>
          <a:prstGeom prst="rect">
            <a:avLst/>
          </a:prstGeom>
        </p:spPr>
      </p:pic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551238" y="741363"/>
            <a:ext cx="5262562" cy="53514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>
                <a:solidFill>
                  <a:srgbClr val="FFFFFF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D28AEF-319B-4446-88E2-C937FD9225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15125"/>
            <a:ext cx="9144000" cy="1428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userDrawn="1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714CF7-C160-48A9-8A0A-B9A741BEF2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15125"/>
            <a:ext cx="9144000" cy="142875"/>
          </a:xfrm>
          <a:prstGeom prst="rect">
            <a:avLst/>
          </a:prstGeom>
        </p:spPr>
      </p:pic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62273" y="694746"/>
            <a:ext cx="8521150" cy="46783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113227-F7E8-461D-A183-29999FF93D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15125"/>
            <a:ext cx="9144000" cy="1428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822B48-D3F3-4769-B2A1-7883B30C7B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15125"/>
            <a:ext cx="9144000" cy="1428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113" y="2071678"/>
            <a:ext cx="8105549" cy="4054485"/>
          </a:xfrm>
        </p:spPr>
        <p:txBody>
          <a:bodyPr/>
          <a:lstStyle>
            <a:lvl1pPr marL="180975" indent="-180975">
              <a:spcBef>
                <a:spcPts val="1500"/>
              </a:spcBef>
              <a:defRPr sz="2400" b="0" baseline="0"/>
            </a:lvl1pPr>
            <a:lvl2pPr marL="449263" indent="-177800">
              <a:spcBef>
                <a:spcPts val="300"/>
              </a:spcBef>
              <a:defRPr sz="2400" baseline="0"/>
            </a:lvl2pPr>
            <a:lvl3pPr marL="715963" indent="-182563">
              <a:spcBef>
                <a:spcPts val="300"/>
              </a:spcBef>
              <a:defRPr sz="2400" baseline="0"/>
            </a:lvl3pPr>
            <a:lvl4pPr marL="982663" indent="-177800">
              <a:spcBef>
                <a:spcPts val="300"/>
              </a:spcBef>
              <a:defRPr sz="2400" baseline="0"/>
            </a:lvl4pPr>
            <a:lvl5pPr marL="1258888" indent="-180975">
              <a:spcBef>
                <a:spcPts val="300"/>
              </a:spcBef>
              <a:defRPr sz="24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3478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accen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" name="Picture 4" descr="Brookes Logo">
            <a:extLst>
              <a:ext uri="{FF2B5EF4-FFF2-40B4-BE49-F238E27FC236}">
                <a16:creationId xmlns:a16="http://schemas.microsoft.com/office/drawing/2014/main" id="{30432AFE-45D8-4F58-92C3-90EA166182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33306" y="207119"/>
            <a:ext cx="2224517" cy="88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73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8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54195B-2AE2-4052-A959-E896E475AE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15125"/>
            <a:ext cx="9144000" cy="14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79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424A5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8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 sz="1800">
                <a:solidFill>
                  <a:srgbClr val="FFFFFF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rgbClr val="FFFFFF"/>
                </a:solidFill>
              </a:defRPr>
            </a:lvl1pPr>
            <a:lvl2pPr lvl="1" algn="r">
              <a:buNone/>
              <a:defRPr sz="1000">
                <a:solidFill>
                  <a:srgbClr val="FFFFFF"/>
                </a:solidFill>
              </a:defRPr>
            </a:lvl2pPr>
            <a:lvl3pPr lvl="2" algn="r">
              <a:buNone/>
              <a:defRPr sz="1000">
                <a:solidFill>
                  <a:srgbClr val="FFFFFF"/>
                </a:solidFill>
              </a:defRPr>
            </a:lvl3pPr>
            <a:lvl4pPr lvl="3" algn="r">
              <a:buNone/>
              <a:defRPr sz="1000">
                <a:solidFill>
                  <a:srgbClr val="FFFFFF"/>
                </a:solidFill>
              </a:defRPr>
            </a:lvl4pPr>
            <a:lvl5pPr lvl="4" algn="r">
              <a:buNone/>
              <a:defRPr sz="1000">
                <a:solidFill>
                  <a:srgbClr val="FFFFFF"/>
                </a:solidFill>
              </a:defRPr>
            </a:lvl5pPr>
            <a:lvl6pPr lvl="5" algn="r">
              <a:buNone/>
              <a:defRPr sz="1000">
                <a:solidFill>
                  <a:srgbClr val="FFFFFF"/>
                </a:solidFill>
              </a:defRPr>
            </a:lvl6pPr>
            <a:lvl7pPr lvl="6" algn="r">
              <a:buNone/>
              <a:defRPr sz="1000">
                <a:solidFill>
                  <a:srgbClr val="FFFFFF"/>
                </a:solidFill>
              </a:defRPr>
            </a:lvl7pPr>
            <a:lvl8pPr lvl="7" algn="r">
              <a:buNone/>
              <a:defRPr sz="1000">
                <a:solidFill>
                  <a:srgbClr val="FFFFFF"/>
                </a:solidFill>
              </a:defRPr>
            </a:lvl8pPr>
            <a:lvl9pPr lvl="8" algn="r">
              <a:buNone/>
              <a:defRPr sz="100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60" r:id="rId9"/>
    <p:sldLayoutId id="2147483661" r:id="rId10"/>
    <p:sldLayoutId id="21474836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codio.co.uk/p/signup?courseToken=double-cadet-price-mentor" TargetMode="Externa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100"/>
          </a:xfr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900" dirty="0"/>
              <a:t>COMP4004</a:t>
            </a:r>
            <a:br>
              <a:rPr lang="en-GB" sz="3900" dirty="0"/>
            </a:br>
            <a:r>
              <a:rPr lang="en-GB" sz="3900" dirty="0"/>
              <a:t>Week 1: Introduction to Programming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dirty="0"/>
              <a:t>Arantza Aldea and David Sutton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15BFB-E656-1E68-4064-D6B951772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Languages and Python</a:t>
            </a:r>
          </a:p>
        </p:txBody>
      </p:sp>
    </p:spTree>
    <p:extLst>
      <p:ext uri="{BB962C8B-B14F-4D97-AF65-F5344CB8AC3E}">
        <p14:creationId xmlns:p14="http://schemas.microsoft.com/office/powerpoint/2010/main" val="4121539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6FE-8EFC-01B4-2484-C506CFD2F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Programs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A3BD20-852E-C9DA-31D4-D646BDD691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/>
              <a:t>Programs must be analytically correct</a:t>
            </a:r>
          </a:p>
          <a:p>
            <a:pPr eaLnBrk="1" hangingPunct="1">
              <a:lnSpc>
                <a:spcPct val="90000"/>
              </a:lnSpc>
            </a:pP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Programs rarely work the first time they are programmed.</a:t>
            </a:r>
          </a:p>
          <a:p>
            <a:pPr eaLnBrk="1" hangingPunct="1">
              <a:lnSpc>
                <a:spcPct val="90000"/>
              </a:lnSpc>
            </a:pP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Programmers must perform the following on a continual basis: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dirty="0"/>
              <a:t>analyse</a:t>
            </a:r>
            <a:endParaRPr 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experiment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correct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Redesign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Programming languages have strict rules, known as </a:t>
            </a:r>
            <a:r>
              <a:rPr lang="en-US" sz="2000" i="1" dirty="0"/>
              <a:t>syntax</a:t>
            </a:r>
            <a:r>
              <a:rPr lang="en-US" sz="2000" dirty="0"/>
              <a:t>, that must be carefully followed.</a:t>
            </a:r>
          </a:p>
        </p:txBody>
      </p:sp>
    </p:spTree>
    <p:extLst>
      <p:ext uri="{BB962C8B-B14F-4D97-AF65-F5344CB8AC3E}">
        <p14:creationId xmlns:p14="http://schemas.microsoft.com/office/powerpoint/2010/main" val="423466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E770-7476-3AF7-CAFA-3C3064E3E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593367"/>
            <a:ext cx="8713547" cy="763500"/>
          </a:xfrm>
        </p:spPr>
        <p:txBody>
          <a:bodyPr/>
          <a:lstStyle/>
          <a:p>
            <a:r>
              <a:rPr lang="en-US" sz="2400" dirty="0"/>
              <a:t>Programming Languages</a:t>
            </a:r>
            <a:br>
              <a:rPr lang="en-US" sz="2400" dirty="0"/>
            </a:br>
            <a:r>
              <a:rPr lang="en-US" sz="2400" dirty="0"/>
              <a:t>Common Language Elements</a:t>
            </a:r>
            <a:endParaRPr lang="en-GB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804B3D-A477-9F76-392B-4731B11531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There are some concepts that are common to virtually all programming languages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Common concepts:</a:t>
            </a:r>
          </a:p>
          <a:p>
            <a:pPr lvl="1" eaLnBrk="1" hangingPunct="1"/>
            <a:r>
              <a:rPr lang="en-US" dirty="0"/>
              <a:t>Key words</a:t>
            </a:r>
          </a:p>
          <a:p>
            <a:pPr lvl="1" eaLnBrk="1" hangingPunct="1"/>
            <a:r>
              <a:rPr lang="en-US" dirty="0"/>
              <a:t>Operators</a:t>
            </a:r>
          </a:p>
          <a:p>
            <a:pPr lvl="1" eaLnBrk="1" hangingPunct="1"/>
            <a:r>
              <a:rPr lang="en-US" dirty="0"/>
              <a:t>Punctuation</a:t>
            </a:r>
          </a:p>
          <a:p>
            <a:pPr lvl="1" eaLnBrk="1" hangingPunct="1"/>
            <a:r>
              <a:rPr lang="en-US" dirty="0"/>
              <a:t>Programmer-defined identifiers</a:t>
            </a:r>
          </a:p>
          <a:p>
            <a:pPr lvl="1" eaLnBrk="1" hangingPunct="1"/>
            <a:r>
              <a:rPr lang="en-US" dirty="0"/>
              <a:t>Strict syntactic rules.</a:t>
            </a:r>
          </a:p>
        </p:txBody>
      </p:sp>
    </p:spTree>
    <p:extLst>
      <p:ext uri="{BB962C8B-B14F-4D97-AF65-F5344CB8AC3E}">
        <p14:creationId xmlns:p14="http://schemas.microsoft.com/office/powerpoint/2010/main" val="2512075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402D6-AF65-396C-6441-A9FC20BF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Python Programming Language</a:t>
            </a:r>
            <a:endParaRPr lang="en-GB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7D48C9B-472E-CD50-74EF-893456A46C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536633"/>
            <a:ext cx="8520600" cy="3739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/>
          <a:p>
            <a:pPr marL="231775" indent="-231775" eaLnBrk="1" hangingPunct="1">
              <a:spcBef>
                <a:spcPct val="50000"/>
              </a:spcBef>
              <a:buFontTx/>
              <a:buChar char="•"/>
            </a:pPr>
            <a:r>
              <a:rPr lang="en-US" sz="2000" dirty="0"/>
              <a:t>Simple and easy to use</a:t>
            </a:r>
          </a:p>
          <a:p>
            <a:pPr marL="231775" indent="-231775" eaLnBrk="1" hangingPunct="1">
              <a:spcBef>
                <a:spcPct val="50000"/>
              </a:spcBef>
              <a:buFontTx/>
              <a:buChar char="•"/>
            </a:pPr>
            <a:r>
              <a:rPr lang="en-US" sz="2000" dirty="0"/>
              <a:t>Powerful</a:t>
            </a:r>
          </a:p>
          <a:p>
            <a:pPr marL="231775" indent="-231775" eaLnBrk="1" hangingPunct="1">
              <a:spcBef>
                <a:spcPct val="50000"/>
              </a:spcBef>
              <a:buFontTx/>
              <a:buChar char="•"/>
            </a:pPr>
            <a:r>
              <a:rPr lang="en-US" sz="2000" dirty="0"/>
              <a:t>Object-Oriented</a:t>
            </a:r>
          </a:p>
          <a:p>
            <a:pPr marL="231775" indent="-231775" eaLnBrk="1" hangingPunct="1">
              <a:spcBef>
                <a:spcPct val="50000"/>
              </a:spcBef>
              <a:buFontTx/>
              <a:buChar char="•"/>
            </a:pPr>
            <a:r>
              <a:rPr lang="en-US" sz="2000" dirty="0"/>
              <a:t>Platform-independent ("write once, run anywhere") </a:t>
            </a:r>
          </a:p>
          <a:p>
            <a:pPr marL="231775" indent="-231775" eaLnBrk="1" hangingPunct="1">
              <a:spcBef>
                <a:spcPct val="50000"/>
              </a:spcBef>
              <a:buFontTx/>
              <a:buChar char="•"/>
            </a:pPr>
            <a:r>
              <a:rPr lang="en-US" sz="2000" dirty="0"/>
              <a:t>Rich library (packages) </a:t>
            </a:r>
          </a:p>
          <a:p>
            <a:pPr marL="231775" indent="-231775" eaLnBrk="1" hangingPunct="1">
              <a:spcBef>
                <a:spcPct val="50000"/>
              </a:spcBef>
              <a:buFontTx/>
              <a:buChar char="•"/>
            </a:pPr>
            <a:r>
              <a:rPr lang="en-US" sz="2000" dirty="0"/>
              <a:t>Interaction with other languages</a:t>
            </a:r>
          </a:p>
          <a:p>
            <a:pPr marL="231775" indent="-231775" eaLnBrk="1" hangingPunct="1">
              <a:spcBef>
                <a:spcPct val="50000"/>
              </a:spcBef>
              <a:buFontTx/>
              <a:buChar char="•"/>
            </a:pPr>
            <a:r>
              <a:rPr lang="en-US" sz="2000" dirty="0"/>
              <a:t>Free and Open source</a:t>
            </a:r>
          </a:p>
        </p:txBody>
      </p:sp>
    </p:spTree>
    <p:extLst>
      <p:ext uri="{BB962C8B-B14F-4D97-AF65-F5344CB8AC3E}">
        <p14:creationId xmlns:p14="http://schemas.microsoft.com/office/powerpoint/2010/main" val="2932630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Variables 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0D8B3-C017-E936-C1FE-6F8B5F33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 Naming - Guidelines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1AFC7E-6153-A78B-4EC8-F27A67D37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56867"/>
            <a:ext cx="8520600" cy="5014566"/>
          </a:xfrm>
        </p:spPr>
        <p:txBody>
          <a:bodyPr/>
          <a:lstStyle/>
          <a:p>
            <a:r>
              <a:rPr lang="en-GB" sz="2400" dirty="0"/>
              <a:t>Variables are used to store information.  </a:t>
            </a:r>
          </a:p>
          <a:p>
            <a:r>
              <a:rPr lang="en-GB" sz="2400" dirty="0"/>
              <a:t>We have a lot of freedom in choosing the names but:</a:t>
            </a:r>
          </a:p>
          <a:p>
            <a:pPr marL="736600" lvl="1" indent="-457200">
              <a:lnSpc>
                <a:spcPct val="100000"/>
              </a:lnSpc>
            </a:pPr>
            <a:r>
              <a:rPr lang="en-GB" sz="1800" dirty="0"/>
              <a:t>A variable name can only contain numbers, letters and underscores</a:t>
            </a:r>
          </a:p>
          <a:p>
            <a:pPr marL="736600" lvl="1" indent="-457200">
              <a:lnSpc>
                <a:spcPct val="100000"/>
              </a:lnSpc>
            </a:pPr>
            <a:r>
              <a:rPr lang="en-GB" sz="1800" dirty="0"/>
              <a:t>A variable name cannot begin with a number</a:t>
            </a:r>
          </a:p>
          <a:p>
            <a:pPr marL="736600" lvl="1" indent="-457200">
              <a:lnSpc>
                <a:spcPct val="100000"/>
              </a:lnSpc>
            </a:pPr>
            <a:r>
              <a:rPr lang="en-GB" sz="1800" dirty="0"/>
              <a:t>A variable name cannot contain blank spaces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sz="2000" dirty="0"/>
              <a:t>Choose descriptive names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dirty="0" err="1"/>
              <a:t>Average_height</a:t>
            </a:r>
            <a:r>
              <a:rPr lang="en-GB" dirty="0"/>
              <a:t>    </a:t>
            </a:r>
            <a:r>
              <a:rPr lang="en-GB" sz="20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√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dirty="0" err="1"/>
              <a:t>abc</a:t>
            </a:r>
            <a:r>
              <a:rPr lang="en-GB" dirty="0"/>
              <a:t>       </a:t>
            </a:r>
            <a:r>
              <a:rPr lang="en-GB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×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sz="2000" dirty="0"/>
              <a:t>Be aware of name length</a:t>
            </a:r>
          </a:p>
          <a:p>
            <a:pPr marL="565150" lvl="1" indent="-285750">
              <a:lnSpc>
                <a:spcPct val="100000"/>
              </a:lnSpc>
              <a:spcBef>
                <a:spcPts val="600"/>
              </a:spcBef>
            </a:pPr>
            <a:r>
              <a:rPr lang="en-GB" dirty="0"/>
              <a:t>  </a:t>
            </a:r>
            <a:r>
              <a:rPr lang="en-GB" dirty="0" err="1"/>
              <a:t>highest_value</a:t>
            </a:r>
            <a:r>
              <a:rPr lang="en-GB" dirty="0"/>
              <a:t>    </a:t>
            </a:r>
            <a:r>
              <a:rPr lang="en-GB" sz="20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√</a:t>
            </a:r>
            <a:endParaRPr lang="en-GB" sz="2000" dirty="0"/>
          </a:p>
          <a:p>
            <a:pPr marL="565150" lvl="1" indent="-285750">
              <a:lnSpc>
                <a:spcPct val="100000"/>
              </a:lnSpc>
              <a:spcBef>
                <a:spcPts val="600"/>
              </a:spcBef>
            </a:pPr>
            <a:r>
              <a:rPr lang="en-GB" dirty="0"/>
              <a:t>  </a:t>
            </a:r>
            <a:r>
              <a:rPr lang="en-GB" dirty="0" err="1"/>
              <a:t>theHighestValueThatHasBeenEnteredSoFar</a:t>
            </a:r>
            <a:r>
              <a:rPr lang="en-GB" dirty="0"/>
              <a:t>      </a:t>
            </a:r>
            <a:r>
              <a:rPr lang="en-GB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×</a:t>
            </a:r>
            <a:endParaRPr lang="en-GB" sz="20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9422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First Programming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2545" y="2071678"/>
            <a:ext cx="7194117" cy="4054485"/>
          </a:xfrm>
        </p:spPr>
        <p:txBody>
          <a:bodyPr/>
          <a:lstStyle/>
          <a:p>
            <a:r>
              <a:rPr lang="en-GB" dirty="0"/>
              <a:t>Can I write a program that reads a person's weight and height and outputs their body-mass index (weight divided by height squared)?</a:t>
            </a:r>
          </a:p>
          <a:p>
            <a:r>
              <a:rPr lang="en-GB" dirty="0"/>
              <a:t>We will start looking at this problem in this week’s classes, and resolve it completely in the week 2 class.</a:t>
            </a:r>
          </a:p>
        </p:txBody>
      </p:sp>
      <p:pic>
        <p:nvPicPr>
          <p:cNvPr id="5" name="Picture 9" descr="C:\Users\p0073862-admin\AppData\Local\Microsoft\Windows\Temporary Internet Files\Content.IE5\G3LWL0DC\SLE_-_agony_aunt_writing-lady-a[1]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18" t="41927"/>
          <a:stretch/>
        </p:blipFill>
        <p:spPr bwMode="auto">
          <a:xfrm>
            <a:off x="395536" y="1772816"/>
            <a:ext cx="1069572" cy="1106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945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Solving Problem #1 (BMI Calculation)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need a program that allows the user to enter their weight (in kg), and their height (cm) and which will then output their BMI, calculate as weight/(height/100)</a:t>
            </a:r>
            <a:r>
              <a:rPr lang="en-GB" baseline="30000" dirty="0"/>
              <a:t> 2</a:t>
            </a:r>
            <a:endParaRPr lang="en-GB" dirty="0"/>
          </a:p>
          <a:p>
            <a:r>
              <a:rPr lang="en-GB" dirty="0"/>
              <a:t>This requires us to</a:t>
            </a:r>
          </a:p>
          <a:p>
            <a:pPr lvl="1"/>
            <a:r>
              <a:rPr lang="en-GB" dirty="0"/>
              <a:t>Design and code the program</a:t>
            </a:r>
          </a:p>
          <a:p>
            <a:pPr lvl="1"/>
            <a:r>
              <a:rPr lang="en-GB" dirty="0"/>
              <a:t>Test the program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7924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and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need a program that will</a:t>
            </a:r>
          </a:p>
          <a:p>
            <a:pPr lvl="1"/>
            <a:r>
              <a:rPr lang="en-GB" dirty="0"/>
              <a:t>Allow the user to enter their weight and height</a:t>
            </a:r>
          </a:p>
          <a:p>
            <a:pPr lvl="1"/>
            <a:r>
              <a:rPr lang="en-GB" dirty="0"/>
              <a:t>Calculate and output the corresponding BMI.</a:t>
            </a:r>
          </a:p>
          <a:p>
            <a:r>
              <a:rPr lang="en-GB" dirty="0"/>
              <a:t>There are many programming languages that we could use to code this program, but the one we will use in this module is Python.</a:t>
            </a:r>
          </a:p>
        </p:txBody>
      </p:sp>
    </p:spTree>
    <p:extLst>
      <p:ext uri="{BB962C8B-B14F-4D97-AF65-F5344CB8AC3E}">
        <p14:creationId xmlns:p14="http://schemas.microsoft.com/office/powerpoint/2010/main" val="3922845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Simplifying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5956" y="1556792"/>
            <a:ext cx="7848872" cy="3477875"/>
          </a:xfrm>
          <a:prstGeom prst="rect">
            <a:avLst/>
          </a:prstGeom>
          <a:noFill/>
          <a:ln w="317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u="sng" dirty="0">
                <a:solidFill>
                  <a:schemeClr val="tx2"/>
                </a:solidFill>
              </a:rPr>
              <a:t>Problem Solving and Programming Tip #1</a:t>
            </a:r>
          </a:p>
          <a:p>
            <a:endParaRPr lang="en-GB" sz="2000" dirty="0">
              <a:solidFill>
                <a:schemeClr val="tx2"/>
              </a:solidFill>
            </a:endParaRPr>
          </a:p>
          <a:p>
            <a:endParaRPr lang="en-GB" sz="2000" dirty="0">
              <a:solidFill>
                <a:schemeClr val="tx2"/>
              </a:solidFill>
            </a:endParaRPr>
          </a:p>
          <a:p>
            <a:r>
              <a:rPr lang="en-GB" sz="2000" dirty="0">
                <a:solidFill>
                  <a:schemeClr val="tx2"/>
                </a:solidFill>
              </a:rPr>
              <a:t>If you are faced with a complex problem, it often helps to find a simpler version of the same problem and solve that instead, then see if your solution to the simpler problem will help you to solve the more complex one.</a:t>
            </a:r>
          </a:p>
          <a:p>
            <a:endParaRPr lang="en-GB" sz="2000" dirty="0">
              <a:solidFill>
                <a:schemeClr val="tx2"/>
              </a:solidFill>
            </a:endParaRPr>
          </a:p>
          <a:p>
            <a:r>
              <a:rPr lang="en-GB" sz="2000" dirty="0">
                <a:solidFill>
                  <a:schemeClr val="tx2"/>
                </a:solidFill>
              </a:rPr>
              <a:t>In this context the word “complex” is relative. A programming problem that is simple for an experienced programmer may well be complex for a novice.</a:t>
            </a:r>
          </a:p>
        </p:txBody>
      </p:sp>
    </p:spTree>
    <p:extLst>
      <p:ext uri="{BB962C8B-B14F-4D97-AF65-F5344CB8AC3E}">
        <p14:creationId xmlns:p14="http://schemas.microsoft.com/office/powerpoint/2010/main" val="274521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Simplifying the BMI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we wanted to simplify the problem of writing our BMI program there are a number of things we could do:</a:t>
            </a:r>
          </a:p>
          <a:p>
            <a:r>
              <a:rPr lang="en-GB" dirty="0"/>
              <a:t>Rather than allowing the user to enter their weight and height, we could simply calculate the BMI for a particular weight and height, for example 78 kg and 169 cm. This is the simplified version we shall address first.</a:t>
            </a:r>
            <a:endParaRPr lang="en-GB" b="1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0598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93725"/>
            <a:ext cx="8521700" cy="763588"/>
          </a:xfrm>
        </p:spPr>
        <p:txBody>
          <a:bodyPr/>
          <a:lstStyle/>
          <a:p>
            <a:r>
              <a:rPr lang="en-GB" dirty="0"/>
              <a:t>The BMI Program in Python (Simplified)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2636838"/>
            <a:ext cx="6624638" cy="2657475"/>
          </a:xfrm>
        </p:spPr>
        <p:txBody>
          <a:bodyPr/>
          <a:lstStyle/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weight = 78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height = 169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weight/(height/100)**2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print('Your BMI is ',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3EE1470-D12A-4760-B699-0200943BC970}"/>
              </a:ext>
            </a:extLst>
          </p:cNvPr>
          <p:cNvGrpSpPr/>
          <p:nvPr/>
        </p:nvGrpSpPr>
        <p:grpSpPr>
          <a:xfrm>
            <a:off x="2738340" y="1717399"/>
            <a:ext cx="5163091" cy="1101973"/>
            <a:chOff x="3447854" y="2431667"/>
            <a:chExt cx="4705691" cy="1200329"/>
          </a:xfrm>
        </p:grpSpPr>
        <p:sp>
          <p:nvSpPr>
            <p:cNvPr id="5" name="TextBox 4"/>
            <p:cNvSpPr txBox="1"/>
            <p:nvPr/>
          </p:nvSpPr>
          <p:spPr>
            <a:xfrm>
              <a:off x="5201217" y="2431667"/>
              <a:ext cx="295232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800" dirty="0">
                  <a:solidFill>
                    <a:schemeClr val="accent6"/>
                  </a:solidFill>
                </a:rPr>
                <a:t>This is an </a:t>
              </a:r>
              <a:r>
                <a:rPr lang="en-GB" sz="1800" i="1" dirty="0">
                  <a:solidFill>
                    <a:schemeClr val="accent6"/>
                  </a:solidFill>
                </a:rPr>
                <a:t>assignment statement</a:t>
              </a:r>
              <a:r>
                <a:rPr lang="en-GB" sz="1800" dirty="0">
                  <a:solidFill>
                    <a:schemeClr val="accent6"/>
                  </a:solidFill>
                </a:rPr>
                <a:t>. The value 78 is assigned to the </a:t>
              </a:r>
              <a:r>
                <a:rPr lang="en-GB" sz="1800" i="1" dirty="0">
                  <a:solidFill>
                    <a:schemeClr val="accent6"/>
                  </a:solidFill>
                </a:rPr>
                <a:t>variable </a:t>
              </a:r>
              <a:r>
                <a:rPr lang="en-GB" sz="1800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weight</a:t>
              </a:r>
              <a:r>
                <a:rPr lang="en-GB" sz="1800" dirty="0">
                  <a:solidFill>
                    <a:schemeClr val="accent6"/>
                  </a:solidFill>
                </a:rPr>
                <a:t>.</a:t>
              </a:r>
            </a:p>
          </p:txBody>
        </p:sp>
        <p:cxnSp>
          <p:nvCxnSpPr>
            <p:cNvPr id="12" name="Straight Arrow Connector 11"/>
            <p:cNvCxnSpPr>
              <a:cxnSpLocks/>
              <a:stCxn id="5" idx="1"/>
            </p:cNvCxnSpPr>
            <p:nvPr/>
          </p:nvCxnSpPr>
          <p:spPr>
            <a:xfrm flipH="1">
              <a:off x="3447854" y="3031832"/>
              <a:ext cx="1753363" cy="600164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6793651-B967-4CA6-B69C-F453F049F5AB}"/>
              </a:ext>
            </a:extLst>
          </p:cNvPr>
          <p:cNvGrpSpPr/>
          <p:nvPr/>
        </p:nvGrpSpPr>
        <p:grpSpPr>
          <a:xfrm>
            <a:off x="744836" y="4132112"/>
            <a:ext cx="7776864" cy="1089698"/>
            <a:chOff x="649155" y="5218360"/>
            <a:chExt cx="7776864" cy="1089698"/>
          </a:xfrm>
        </p:grpSpPr>
        <p:sp>
          <p:nvSpPr>
            <p:cNvPr id="15" name="TextBox 14"/>
            <p:cNvSpPr txBox="1"/>
            <p:nvPr/>
          </p:nvSpPr>
          <p:spPr>
            <a:xfrm>
              <a:off x="649155" y="5661727"/>
              <a:ext cx="77768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800" dirty="0">
                  <a:solidFill>
                    <a:schemeClr val="accent6"/>
                  </a:solidFill>
                </a:rPr>
                <a:t>This is an </a:t>
              </a:r>
              <a:r>
                <a:rPr lang="en-GB" sz="1800" i="1" dirty="0">
                  <a:solidFill>
                    <a:schemeClr val="accent6"/>
                  </a:solidFill>
                </a:rPr>
                <a:t>output statement</a:t>
              </a:r>
              <a:r>
                <a:rPr lang="en-GB" sz="1800" dirty="0">
                  <a:solidFill>
                    <a:schemeClr val="accent6"/>
                  </a:solidFill>
                </a:rPr>
                <a:t>. When it is executed the text ‘Your BMI is’ is shown to the user, followed by the value of the variable </a:t>
              </a:r>
              <a:r>
                <a:rPr lang="en-GB" sz="1800" dirty="0" err="1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bmi</a:t>
              </a:r>
              <a:endParaRPr lang="en-GB" sz="1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flipH="1" flipV="1">
              <a:off x="1712008" y="5218360"/>
              <a:ext cx="104835" cy="423664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B7BEB09-C94B-41EA-AD84-C5B945E83C85}"/>
              </a:ext>
            </a:extLst>
          </p:cNvPr>
          <p:cNvGrpSpPr/>
          <p:nvPr/>
        </p:nvGrpSpPr>
        <p:grpSpPr>
          <a:xfrm>
            <a:off x="4466819" y="3187824"/>
            <a:ext cx="4876120" cy="1477328"/>
            <a:chOff x="3946130" y="3866473"/>
            <a:chExt cx="4876120" cy="1477328"/>
          </a:xfrm>
        </p:grpSpPr>
        <p:sp>
          <p:nvSpPr>
            <p:cNvPr id="10" name="TextBox 9"/>
            <p:cNvSpPr txBox="1"/>
            <p:nvPr/>
          </p:nvSpPr>
          <p:spPr>
            <a:xfrm>
              <a:off x="5869922" y="3866473"/>
              <a:ext cx="2952328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800" dirty="0">
                  <a:solidFill>
                    <a:schemeClr val="accent6"/>
                  </a:solidFill>
                </a:rPr>
                <a:t>Once a variable has been assigned a value, it can appear on the right-hand side of an assignment statement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957D656-9A2B-4395-BF47-A27146F743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6130" y="4054679"/>
              <a:ext cx="1923792" cy="445116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8452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93725"/>
            <a:ext cx="8521700" cy="763588"/>
          </a:xfrm>
        </p:spPr>
        <p:txBody>
          <a:bodyPr/>
          <a:lstStyle/>
          <a:p>
            <a:r>
              <a:rPr lang="en-GB" dirty="0"/>
              <a:t>Assignment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130072" y="3873869"/>
            <a:ext cx="5688013" cy="649288"/>
          </a:xfrm>
        </p:spPr>
        <p:txBody>
          <a:bodyPr/>
          <a:lstStyle/>
          <a:p>
            <a:pPr marL="0" indent="0"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= weight/(height/100)**2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614" y="2244629"/>
            <a:ext cx="3262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chemeClr val="accent6"/>
                </a:solidFill>
              </a:rPr>
              <a:t>The left hand side of an assignment statement is a variable.*</a:t>
            </a: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>
            <a:off x="1567543" y="3265714"/>
            <a:ext cx="0" cy="671804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44464" y="1604694"/>
            <a:ext cx="34879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chemeClr val="accent6"/>
                </a:solidFill>
              </a:rPr>
              <a:t>The right hand side of an assignment statement is an expression. This is some combination of numbers, operators, and variables that </a:t>
            </a:r>
            <a:r>
              <a:rPr lang="en-GB" sz="1800" i="1" dirty="0">
                <a:solidFill>
                  <a:schemeClr val="accent6"/>
                </a:solidFill>
              </a:rPr>
              <a:t>has</a:t>
            </a:r>
            <a:r>
              <a:rPr lang="en-GB" sz="1800" dirty="0">
                <a:solidFill>
                  <a:schemeClr val="accent6"/>
                </a:solidFill>
              </a:rPr>
              <a:t> a value.</a:t>
            </a:r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 flipH="1">
            <a:off x="4654455" y="3359020"/>
            <a:ext cx="580018" cy="578498"/>
          </a:xfrm>
          <a:prstGeom prst="straightConnector1">
            <a:avLst/>
          </a:prstGeom>
          <a:ln w="254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1700" y="5616505"/>
            <a:ext cx="8414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chemeClr val="accent6"/>
                </a:solidFill>
              </a:rPr>
              <a:t>* Or more generally the left hand side is something to which we can </a:t>
            </a:r>
            <a:r>
              <a:rPr lang="en-GB" sz="1800" i="1" dirty="0">
                <a:solidFill>
                  <a:schemeClr val="accent6"/>
                </a:solidFill>
              </a:rPr>
              <a:t>assign</a:t>
            </a:r>
            <a:r>
              <a:rPr lang="en-GB" sz="1800" dirty="0">
                <a:solidFill>
                  <a:schemeClr val="accent6"/>
                </a:solidFill>
              </a:rPr>
              <a:t> a value. Later in the semester we will meet other things that fit this description</a:t>
            </a:r>
            <a:r>
              <a:rPr lang="en-GB" sz="1800" dirty="0">
                <a:solidFill>
                  <a:schemeClr val="accent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1544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Naming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5956" y="1556792"/>
            <a:ext cx="7848872" cy="4708981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u="sng" dirty="0">
                <a:solidFill>
                  <a:schemeClr val="bg1"/>
                </a:solidFill>
              </a:rPr>
              <a:t>Problem Solving and Programming Tip #2</a:t>
            </a:r>
          </a:p>
          <a:p>
            <a:endParaRPr lang="en-GB" sz="2000" u="sng" dirty="0">
              <a:solidFill>
                <a:schemeClr val="bg1"/>
              </a:solidFill>
            </a:endParaRPr>
          </a:p>
          <a:p>
            <a:r>
              <a:rPr lang="en-GB" sz="2000" dirty="0">
                <a:solidFill>
                  <a:schemeClr val="tx2"/>
                </a:solidFill>
              </a:rPr>
              <a:t>Give variables names that tell the reader how they are used in a program.</a:t>
            </a:r>
          </a:p>
          <a:p>
            <a:endParaRPr lang="en-GB" sz="2000" dirty="0">
              <a:solidFill>
                <a:schemeClr val="tx2"/>
              </a:solidFill>
            </a:endParaRPr>
          </a:p>
          <a:p>
            <a:r>
              <a:rPr lang="en-GB" sz="2000" dirty="0">
                <a:solidFill>
                  <a:schemeClr val="tx2"/>
                </a:solidFill>
              </a:rPr>
              <a:t>It is usually not a good idea to use single characters as variable names. The program we have been looking at in the last few slides would probably be understandable if we had used </a:t>
            </a:r>
            <a:r>
              <a:rPr lang="en-GB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GB" sz="2000" dirty="0">
                <a:solidFill>
                  <a:schemeClr val="tx2"/>
                </a:solidFill>
              </a:rPr>
              <a:t> and </a:t>
            </a:r>
            <a:r>
              <a:rPr lang="en-GB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GB" sz="2000" dirty="0">
                <a:solidFill>
                  <a:schemeClr val="tx2"/>
                </a:solidFill>
              </a:rPr>
              <a:t> as variable names rather than </a:t>
            </a:r>
            <a:r>
              <a:rPr lang="en-GB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en-GB" sz="2000" dirty="0">
                <a:solidFill>
                  <a:schemeClr val="tx2"/>
                </a:solidFill>
              </a:rPr>
              <a:t> and </a:t>
            </a:r>
            <a:r>
              <a:rPr lang="en-GB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lang="en-GB" sz="2000" dirty="0">
                <a:solidFill>
                  <a:schemeClr val="tx2"/>
                </a:solidFill>
              </a:rPr>
              <a:t>, but if the program was longer, readers might find it hard to work out whether </a:t>
            </a:r>
            <a:r>
              <a:rPr lang="en-GB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GB" sz="2000" dirty="0">
                <a:solidFill>
                  <a:schemeClr val="tx2"/>
                </a:solidFill>
              </a:rPr>
              <a:t> describe a weight, or some other quantity that began with 'w'.</a:t>
            </a:r>
          </a:p>
          <a:p>
            <a:endParaRPr lang="en-GB" sz="2000" dirty="0">
              <a:solidFill>
                <a:schemeClr val="tx2"/>
              </a:solidFill>
            </a:endParaRPr>
          </a:p>
          <a:p>
            <a:r>
              <a:rPr lang="en-GB" sz="2000" dirty="0">
                <a:solidFill>
                  <a:schemeClr val="tx2"/>
                </a:solidFill>
              </a:rPr>
              <a:t>(There are some circumstances where a single character variable name might be acceptable, and we will meet them later in the module.)</a:t>
            </a:r>
          </a:p>
        </p:txBody>
      </p:sp>
    </p:spTree>
    <p:extLst>
      <p:ext uri="{BB962C8B-B14F-4D97-AF65-F5344CB8AC3E}">
        <p14:creationId xmlns:p14="http://schemas.microsoft.com/office/powerpoint/2010/main" val="4239708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Arithmetic in Python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113" y="2071679"/>
            <a:ext cx="8105549" cy="85326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Python expressions may contain the following arithmetic operators: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452603"/>
              </p:ext>
            </p:extLst>
          </p:nvPr>
        </p:nvGraphicFramePr>
        <p:xfrm>
          <a:off x="503548" y="3639757"/>
          <a:ext cx="8136904" cy="2595880"/>
        </p:xfrm>
        <a:graphic>
          <a:graphicData uri="http://schemas.openxmlformats.org/drawingml/2006/table">
            <a:tbl>
              <a:tblPr bandRow="1">
                <a:tableStyleId>{37CE84F3-28C3-443E-9E96-99CF82512B78}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2"/>
                          </a:solidFill>
                        </a:rPr>
                        <a:t>+</a:t>
                      </a:r>
                      <a:endParaRPr lang="en-GB" sz="1800" b="0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2"/>
                          </a:solidFill>
                        </a:rPr>
                        <a:t>Addition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2"/>
                          </a:solidFill>
                        </a:rPr>
                        <a:t>-</a:t>
                      </a:r>
                      <a:endParaRPr lang="en-GB" sz="1800" b="0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2"/>
                          </a:solidFill>
                        </a:rPr>
                        <a:t>Subtraction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2"/>
                          </a:solidFill>
                        </a:rPr>
                        <a:t>*</a:t>
                      </a:r>
                      <a:endParaRPr lang="en-GB" sz="1800" b="0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2"/>
                          </a:solidFill>
                        </a:rPr>
                        <a:t>Multiplication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2"/>
                          </a:solidFill>
                        </a:rPr>
                        <a:t>/</a:t>
                      </a:r>
                      <a:endParaRPr lang="en-GB" sz="1800" b="0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2"/>
                          </a:solidFill>
                        </a:rPr>
                        <a:t>Division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2"/>
                          </a:solidFill>
                        </a:rPr>
                        <a:t>**</a:t>
                      </a:r>
                      <a:endParaRPr lang="en-GB" sz="1800" b="0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2"/>
                          </a:solidFill>
                        </a:rPr>
                        <a:t>Exponentiation</a:t>
                      </a:r>
                      <a:r>
                        <a:rPr lang="en-GB" sz="1800" b="0" baseline="0" dirty="0">
                          <a:solidFill>
                            <a:schemeClr val="tx2"/>
                          </a:solidFill>
                        </a:rPr>
                        <a:t> (i.e. raising one number to the power of another)</a:t>
                      </a:r>
                      <a:endParaRPr lang="en-GB" sz="18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2"/>
                          </a:solidFill>
                        </a:rPr>
                        <a:t>//</a:t>
                      </a:r>
                      <a:endParaRPr lang="en-GB" sz="1800" b="0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2"/>
                          </a:solidFill>
                        </a:rPr>
                        <a:t>Floor</a:t>
                      </a:r>
                      <a:r>
                        <a:rPr lang="en-GB" sz="1800" b="0" baseline="0" dirty="0">
                          <a:solidFill>
                            <a:schemeClr val="tx2"/>
                          </a:solidFill>
                        </a:rPr>
                        <a:t> division (divide two numbers and round the result down)</a:t>
                      </a:r>
                      <a:endParaRPr lang="en-GB" sz="18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2"/>
                          </a:solidFill>
                        </a:rPr>
                        <a:t>%</a:t>
                      </a:r>
                      <a:endParaRPr lang="en-GB" sz="1800" b="0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tx2"/>
                          </a:solidFill>
                        </a:rPr>
                        <a:t>Modulus (remainder after</a:t>
                      </a:r>
                      <a:r>
                        <a:rPr lang="en-GB" sz="1800" b="0" baseline="0" dirty="0">
                          <a:solidFill>
                            <a:schemeClr val="tx2"/>
                          </a:solidFill>
                        </a:rPr>
                        <a:t> one number is divided by another)</a:t>
                      </a:r>
                      <a:endParaRPr lang="en-GB" sz="1800" b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3615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Floor Division and Modulus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225" y="1698454"/>
            <a:ext cx="8105549" cy="4054485"/>
          </a:xfrm>
        </p:spPr>
        <p:txBody>
          <a:bodyPr/>
          <a:lstStyle/>
          <a:p>
            <a:r>
              <a:rPr lang="en-GB" dirty="0"/>
              <a:t>The operator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GB" dirty="0"/>
              <a:t> divides one number by another and then rounds down to the nearest integer. This sometimes described as </a:t>
            </a:r>
            <a:r>
              <a:rPr lang="en-GB" i="1" dirty="0"/>
              <a:t>floor </a:t>
            </a:r>
            <a:r>
              <a:rPr lang="en-GB" dirty="0"/>
              <a:t>division. </a:t>
            </a:r>
          </a:p>
          <a:p>
            <a:r>
              <a:rPr lang="en-GB" dirty="0"/>
              <a:t>Example: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17//5 </a:t>
            </a:r>
            <a:r>
              <a:rPr lang="en-GB" dirty="0"/>
              <a:t>will evaluate to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GB" dirty="0"/>
              <a:t>, whereas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17/5</a:t>
            </a:r>
            <a:r>
              <a:rPr lang="en-GB" dirty="0"/>
              <a:t> evaluates to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3.4</a:t>
            </a:r>
            <a:endParaRPr lang="en-GB" dirty="0">
              <a:cs typeface="Courier New" panose="02070309020205020404" pitchFamily="49" charset="0"/>
            </a:endParaRPr>
          </a:p>
          <a:p>
            <a:r>
              <a:rPr lang="en-GB" dirty="0">
                <a:cs typeface="Courier New" panose="02070309020205020404" pitchFamily="49" charset="0"/>
              </a:rPr>
              <a:t>The operator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GB" dirty="0">
                <a:cs typeface="Courier New" panose="02070309020205020404" pitchFamily="49" charset="0"/>
              </a:rPr>
              <a:t> calculates the remainder after one number is (floor) divided by another. </a:t>
            </a:r>
          </a:p>
          <a:p>
            <a:r>
              <a:rPr lang="en-GB" dirty="0">
                <a:cs typeface="Courier New" panose="02070309020205020404" pitchFamily="49" charset="0"/>
              </a:rPr>
              <a:t>Example: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28%12</a:t>
            </a:r>
            <a:r>
              <a:rPr lang="en-GB" dirty="0">
                <a:cs typeface="Courier New" panose="02070309020205020404" pitchFamily="49" charset="0"/>
              </a:rPr>
              <a:t> evaluates to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GB" dirty="0">
                <a:cs typeface="Courier New" panose="02070309020205020404" pitchFamily="49" charset="0"/>
              </a:rPr>
              <a:t> and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28//12 </a:t>
            </a:r>
            <a:r>
              <a:rPr lang="en-GB" dirty="0">
                <a:cs typeface="Courier New" panose="02070309020205020404" pitchFamily="49" charset="0"/>
              </a:rPr>
              <a:t>evaluates to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GB" dirty="0">
                <a:cs typeface="Courier New" panose="02070309020205020404" pitchFamily="49" charset="0"/>
              </a:rPr>
              <a:t> because 12 goes 2 times into 28, with remainder 4.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650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6FD88E-2015-BB2B-2D30-3D9501AC4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and Input Statements</a:t>
            </a:r>
          </a:p>
        </p:txBody>
      </p:sp>
    </p:spTree>
    <p:extLst>
      <p:ext uri="{BB962C8B-B14F-4D97-AF65-F5344CB8AC3E}">
        <p14:creationId xmlns:p14="http://schemas.microsoft.com/office/powerpoint/2010/main" val="185118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Input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51" y="2734267"/>
            <a:ext cx="8105549" cy="106929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answer = input('Enter your name&gt;')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print('Your name is ', answer)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03998FA-B653-4D0B-8B9B-4E4635248353}"/>
              </a:ext>
            </a:extLst>
          </p:cNvPr>
          <p:cNvGrpSpPr/>
          <p:nvPr/>
        </p:nvGrpSpPr>
        <p:grpSpPr>
          <a:xfrm>
            <a:off x="5557815" y="1551623"/>
            <a:ext cx="2692549" cy="1434173"/>
            <a:chOff x="5839891" y="1484784"/>
            <a:chExt cx="2692549" cy="1434173"/>
          </a:xfrm>
        </p:grpSpPr>
        <p:sp>
          <p:nvSpPr>
            <p:cNvPr id="4" name="TextBox 3"/>
            <p:cNvSpPr txBox="1"/>
            <p:nvPr/>
          </p:nvSpPr>
          <p:spPr>
            <a:xfrm>
              <a:off x="6012160" y="1484784"/>
              <a:ext cx="252028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800" dirty="0">
                  <a:solidFill>
                    <a:schemeClr val="accent6"/>
                  </a:solidFill>
                </a:rPr>
                <a:t>This is a prompt that will be displayed to the user</a:t>
              </a:r>
            </a:p>
          </p:txBody>
        </p:sp>
        <p:cxnSp>
          <p:nvCxnSpPr>
            <p:cNvPr id="6" name="Straight Arrow Connector 5"/>
            <p:cNvCxnSpPr>
              <a:cxnSpLocks/>
            </p:cNvCxnSpPr>
            <p:nvPr/>
          </p:nvCxnSpPr>
          <p:spPr>
            <a:xfrm flipH="1">
              <a:off x="5839891" y="2501122"/>
              <a:ext cx="344537" cy="417835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4B9E7D7-0603-4249-A9D9-0B8060EFEBAB}"/>
              </a:ext>
            </a:extLst>
          </p:cNvPr>
          <p:cNvGrpSpPr/>
          <p:nvPr/>
        </p:nvGrpSpPr>
        <p:grpSpPr>
          <a:xfrm>
            <a:off x="611560" y="1590170"/>
            <a:ext cx="4752528" cy="1395626"/>
            <a:chOff x="474847" y="1581708"/>
            <a:chExt cx="4752528" cy="1345005"/>
          </a:xfrm>
        </p:grpSpPr>
        <p:sp>
          <p:nvSpPr>
            <p:cNvPr id="9" name="TextBox 8"/>
            <p:cNvSpPr txBox="1"/>
            <p:nvPr/>
          </p:nvSpPr>
          <p:spPr>
            <a:xfrm>
              <a:off x="474847" y="1581708"/>
              <a:ext cx="475252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800" dirty="0">
                  <a:solidFill>
                    <a:schemeClr val="accent6"/>
                  </a:solidFill>
                </a:rPr>
                <a:t>The </a:t>
              </a:r>
              <a:r>
                <a:rPr lang="en-GB" sz="1800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input</a:t>
              </a:r>
              <a:r>
                <a:rPr lang="en-GB" sz="1800" dirty="0">
                  <a:solidFill>
                    <a:schemeClr val="accent6"/>
                  </a:solidFill>
                </a:rPr>
                <a:t> function allows us to write an expression whose value is whatever the user types in response to the prompt</a:t>
              </a:r>
            </a:p>
          </p:txBody>
        </p:sp>
        <p:cxnSp>
          <p:nvCxnSpPr>
            <p:cNvPr id="10" name="Straight Arrow Connector 9"/>
            <p:cNvCxnSpPr>
              <a:cxnSpLocks/>
              <a:stCxn id="9" idx="2"/>
            </p:cNvCxnSpPr>
            <p:nvPr/>
          </p:nvCxnSpPr>
          <p:spPr>
            <a:xfrm>
              <a:off x="2851111" y="2505038"/>
              <a:ext cx="71923" cy="421675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C6DF9EB7-564D-BA97-BA96-C222CD31E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4407408"/>
            <a:ext cx="4104456" cy="182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58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INCORRECT Version of the BMI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0056" y="1657908"/>
            <a:ext cx="8105549" cy="1887726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weight = input('Enter your weight&gt;')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height = input('Enter your height&gt;')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weight/(height/100)**2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print('Your BMI is ',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29BAD6-683F-2110-E109-832C54E29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980614"/>
            <a:ext cx="6048672" cy="2682047"/>
          </a:xfrm>
          <a:prstGeom prst="rect">
            <a:avLst/>
          </a:prstGeom>
          <a:ln w="69850">
            <a:solidFill>
              <a:schemeClr val="bg2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90C8FF-F972-C2AD-6F56-FC717CCA9E8E}"/>
              </a:ext>
            </a:extLst>
          </p:cNvPr>
          <p:cNvSpPr txBox="1"/>
          <p:nvPr/>
        </p:nvSpPr>
        <p:spPr>
          <a:xfrm>
            <a:off x="7164288" y="4077072"/>
            <a:ext cx="1872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chemeClr val="accent6"/>
                </a:solidFill>
              </a:rPr>
              <a:t>Running the program produces this!</a:t>
            </a:r>
          </a:p>
        </p:txBody>
      </p:sp>
    </p:spTree>
    <p:extLst>
      <p:ext uri="{BB962C8B-B14F-4D97-AF65-F5344CB8AC3E}">
        <p14:creationId xmlns:p14="http://schemas.microsoft.com/office/powerpoint/2010/main" val="36231581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113" y="1477669"/>
            <a:ext cx="8105549" cy="1357322"/>
          </a:xfrm>
        </p:spPr>
        <p:txBody>
          <a:bodyPr/>
          <a:lstStyle/>
          <a:p>
            <a:r>
              <a:rPr lang="en-GB" sz="1800" dirty="0"/>
              <a:t>The reason why the program on the previous slide did not work is that expressions in Python have a </a:t>
            </a:r>
            <a:r>
              <a:rPr lang="en-GB" sz="1800" i="1" dirty="0"/>
              <a:t>type</a:t>
            </a:r>
            <a:r>
              <a:rPr lang="en-GB" sz="1800" dirty="0"/>
              <a:t> as well as a value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827584" y="4149080"/>
            <a:ext cx="8105549" cy="1573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marL="180975" indent="-180975" algn="l" rtl="0" eaLnBrk="0" fontAlgn="base" hangingPunct="0">
              <a:spcBef>
                <a:spcPts val="1500"/>
              </a:spcBef>
              <a:spcAft>
                <a:spcPct val="0"/>
              </a:spcAft>
              <a:buFont typeface="Wingdings" charset="2"/>
              <a:buChar char="§"/>
              <a:defRPr sz="2400" b="0" kern="1200" baseline="0">
                <a:solidFill>
                  <a:schemeClr val="bg2"/>
                </a:solidFill>
                <a:latin typeface="+mn-lt"/>
                <a:ea typeface="+mn-ea"/>
                <a:cs typeface="ＭＳ Ｐゴシック"/>
              </a:defRPr>
            </a:lvl1pPr>
            <a:lvl2pPr marL="449263" indent="-177800" algn="l" rtl="0" eaLnBrk="0" fontAlgn="base" hangingPunct="0">
              <a:spcBef>
                <a:spcPts val="300"/>
              </a:spcBef>
              <a:spcAft>
                <a:spcPct val="0"/>
              </a:spcAft>
              <a:buFont typeface="Wingdings" charset="2"/>
              <a:buChar char="§"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ＭＳ Ｐゴシック"/>
              </a:defRPr>
            </a:lvl2pPr>
            <a:lvl3pPr marL="715963" indent="-182563" algn="l" rtl="0" eaLnBrk="0" fontAlgn="base" hangingPunct="0">
              <a:spcBef>
                <a:spcPts val="300"/>
              </a:spcBef>
              <a:spcAft>
                <a:spcPct val="0"/>
              </a:spcAft>
              <a:buFont typeface="Wingdings" charset="2"/>
              <a:buChar char="§"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ＭＳ Ｐゴシック"/>
              </a:defRPr>
            </a:lvl3pPr>
            <a:lvl4pPr marL="982663" indent="-177800" algn="l" rtl="0" eaLnBrk="0" fontAlgn="base" hangingPunct="0">
              <a:spcBef>
                <a:spcPts val="300"/>
              </a:spcBef>
              <a:spcAft>
                <a:spcPct val="0"/>
              </a:spcAft>
              <a:buFont typeface="Wingdings" charset="2"/>
              <a:buChar char="§"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ＭＳ Ｐゴシック"/>
              </a:defRPr>
            </a:lvl4pPr>
            <a:lvl5pPr marL="1258888" indent="-180975" algn="l" rtl="0" eaLnBrk="0" fontAlgn="base" hangingPunct="0">
              <a:spcBef>
                <a:spcPts val="300"/>
              </a:spcBef>
              <a:spcAft>
                <a:spcPct val="0"/>
              </a:spcAft>
              <a:buFont typeface="Wingdings" charset="2"/>
              <a:buChar char="§"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ＭＳ Ｐゴシック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Wingdings" charset="2"/>
              <a:buNone/>
            </a:pP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weight = input('Enter your weight&gt;')</a:t>
            </a:r>
          </a:p>
          <a:p>
            <a:pPr marL="0" indent="0">
              <a:spcBef>
                <a:spcPts val="0"/>
              </a:spcBef>
              <a:buFont typeface="Wingdings" charset="2"/>
              <a:buNone/>
            </a:pP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 = input('Enter your height&gt;')</a:t>
            </a:r>
          </a:p>
          <a:p>
            <a:pPr marL="0" indent="0">
              <a:spcBef>
                <a:spcPts val="0"/>
              </a:spcBef>
              <a:buFont typeface="Wingdings" charset="2"/>
              <a:buNone/>
            </a:pPr>
            <a:r>
              <a:rPr lang="en-GB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GB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weight/(height/100)**2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8294" y="3238369"/>
            <a:ext cx="6944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chemeClr val="accent6"/>
                </a:solidFill>
              </a:rPr>
              <a:t>This expression is of type </a:t>
            </a:r>
            <a:r>
              <a:rPr lang="en-GB" sz="1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GB" sz="1800" dirty="0">
                <a:solidFill>
                  <a:schemeClr val="accent6"/>
                </a:solidFill>
              </a:rPr>
              <a:t>. This means that if the user types </a:t>
            </a:r>
            <a:r>
              <a:rPr lang="en-GB" sz="1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78</a:t>
            </a:r>
            <a:r>
              <a:rPr lang="en-GB" sz="1800" dirty="0">
                <a:solidFill>
                  <a:schemeClr val="accent6"/>
                </a:solidFill>
              </a:rPr>
              <a:t> the value of the expression is the text </a:t>
            </a:r>
            <a:r>
              <a:rPr lang="en-GB" sz="1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'78' </a:t>
            </a:r>
            <a:r>
              <a:rPr lang="en-GB" sz="1800" dirty="0">
                <a:solidFill>
                  <a:schemeClr val="accent6"/>
                </a:solidFill>
              </a:rPr>
              <a:t>not the number </a:t>
            </a:r>
            <a:r>
              <a:rPr lang="en-GB" sz="1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78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771800" y="3913257"/>
            <a:ext cx="144016" cy="360040"/>
          </a:xfrm>
          <a:prstGeom prst="straightConnector1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1113" y="5617797"/>
            <a:ext cx="77768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chemeClr val="accent6"/>
                </a:solidFill>
              </a:rPr>
              <a:t>Arithmetic can only be performed on values of type </a:t>
            </a:r>
            <a:r>
              <a:rPr lang="en-GB" sz="1800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sz="1800" dirty="0">
                <a:solidFill>
                  <a:schemeClr val="accent6"/>
                </a:solidFill>
              </a:rPr>
              <a:t> (whole numbers) or </a:t>
            </a:r>
            <a:r>
              <a:rPr lang="en-GB" sz="18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GB" sz="1800" dirty="0">
                <a:solidFill>
                  <a:schemeClr val="accent6"/>
                </a:solidFill>
              </a:rPr>
              <a:t> (numbers with a decimal point). You can’t divide or multiply text strings.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2627784" y="5301208"/>
            <a:ext cx="0" cy="288032"/>
          </a:xfrm>
          <a:prstGeom prst="straightConnector1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702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113" y="2071679"/>
            <a:ext cx="8105549" cy="637242"/>
          </a:xfrm>
        </p:spPr>
        <p:txBody>
          <a:bodyPr/>
          <a:lstStyle/>
          <a:p>
            <a:r>
              <a:rPr lang="en-GB" dirty="0"/>
              <a:t>Types in Python include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524985"/>
              </p:ext>
            </p:extLst>
          </p:nvPr>
        </p:nvGraphicFramePr>
        <p:xfrm>
          <a:off x="899592" y="2852936"/>
          <a:ext cx="7560840" cy="2941320"/>
        </p:xfrm>
        <a:graphic>
          <a:graphicData uri="http://schemas.openxmlformats.org/drawingml/2006/table">
            <a:tbl>
              <a:tblPr bandRow="1">
                <a:tableStyleId>{8FD4443E-F989-4FC4-A0C8-D5A2AF1F390B}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bg1"/>
                          </a:solidFill>
                        </a:rPr>
                        <a:t>str</a:t>
                      </a:r>
                      <a:endParaRPr lang="en-GB" sz="18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bg1"/>
                          </a:solidFill>
                        </a:rPr>
                        <a:t>Text strings.</a:t>
                      </a:r>
                      <a:r>
                        <a:rPr lang="en-GB" sz="1800" b="0" baseline="0" dirty="0">
                          <a:solidFill>
                            <a:schemeClr val="bg1"/>
                          </a:solidFill>
                        </a:rPr>
                        <a:t> Examples include ‘hello’ and ‘3’ . Note that ‘3’ is of type str, but 3 is of type int.</a:t>
                      </a:r>
                    </a:p>
                    <a:p>
                      <a:r>
                        <a:rPr lang="en-GB" sz="1800" b="0" baseline="0" dirty="0">
                          <a:solidFill>
                            <a:schemeClr val="bg1"/>
                          </a:solidFill>
                        </a:rPr>
                        <a:t>Strings can be enclosed in either single quotes or double quotes so "hello" has the same type as 'hello'.</a:t>
                      </a:r>
                      <a:endParaRPr lang="en-GB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dirty="0" err="1">
                          <a:solidFill>
                            <a:schemeClr val="bg1"/>
                          </a:solidFill>
                        </a:rPr>
                        <a:t>int</a:t>
                      </a:r>
                      <a:endParaRPr lang="en-GB" sz="18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bg1"/>
                          </a:solidFill>
                        </a:rPr>
                        <a:t>Whole numbers. Examples</a:t>
                      </a:r>
                      <a:r>
                        <a:rPr lang="en-GB" sz="1800" b="0" baseline="0" dirty="0">
                          <a:solidFill>
                            <a:schemeClr val="bg1"/>
                          </a:solidFill>
                        </a:rPr>
                        <a:t> include 4 and 56</a:t>
                      </a:r>
                      <a:endParaRPr lang="en-GB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bg1"/>
                          </a:solidFill>
                        </a:rPr>
                        <a:t>float</a:t>
                      </a:r>
                      <a:endParaRPr lang="en-GB" sz="18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bg1"/>
                          </a:solidFill>
                        </a:rPr>
                        <a:t>Numbers</a:t>
                      </a:r>
                      <a:r>
                        <a:rPr lang="en-GB" sz="1800" b="0" baseline="0" dirty="0">
                          <a:solidFill>
                            <a:schemeClr val="bg1"/>
                          </a:solidFill>
                        </a:rPr>
                        <a:t> with a decimal point. Note that 3.0 is treated as a float, not an int.</a:t>
                      </a:r>
                      <a:endParaRPr lang="en-GB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bg1"/>
                          </a:solidFill>
                        </a:rPr>
                        <a:t>list</a:t>
                      </a:r>
                      <a:endParaRPr lang="en-GB" sz="18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bg1"/>
                          </a:solidFill>
                        </a:rPr>
                        <a:t>We will meet</a:t>
                      </a:r>
                      <a:r>
                        <a:rPr lang="en-GB" sz="1800" b="0" baseline="0" dirty="0">
                          <a:solidFill>
                            <a:schemeClr val="bg1"/>
                          </a:solidFill>
                        </a:rPr>
                        <a:t> these types later in the module.</a:t>
                      </a:r>
                      <a:endParaRPr lang="en-GB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dirty="0">
                          <a:solidFill>
                            <a:schemeClr val="bg1"/>
                          </a:solidFill>
                        </a:rPr>
                        <a:t>dictionary</a:t>
                      </a:r>
                      <a:endParaRPr lang="en-GB" sz="18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5000"/>
                        <a:lumOff val="3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b="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9793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6EB9C-9FCC-4F32-8C91-20ADF5ED8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2E7FA-E3E2-4597-991F-B9A875374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53" y="1819512"/>
            <a:ext cx="8105549" cy="2827134"/>
          </a:xfrm>
        </p:spPr>
        <p:txBody>
          <a:bodyPr/>
          <a:lstStyle/>
          <a:p>
            <a:r>
              <a:rPr lang="en-GB" sz="2000" dirty="0"/>
              <a:t>Expressions in Python have types.</a:t>
            </a:r>
          </a:p>
          <a:p>
            <a:r>
              <a:rPr lang="en-GB" sz="2000" dirty="0"/>
              <a:t>The type of an expression is inferred from the types of its constituent parts. In the case of a numerical expression, anything that would yield a floating point result, for example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2 + 3.2 </a:t>
            </a:r>
            <a:r>
              <a:rPr lang="en-GB" sz="2000" dirty="0"/>
              <a:t>has type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GB" sz="2000" dirty="0"/>
              <a:t>.</a:t>
            </a:r>
          </a:p>
          <a:p>
            <a:r>
              <a:rPr lang="en-GB" sz="2000" dirty="0"/>
              <a:t>The type of an expression can be found by using the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2000" dirty="0"/>
              <a:t> function.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72E27C-0694-FA15-B55B-1755695D0F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8366"/>
          <a:stretch/>
        </p:blipFill>
        <p:spPr>
          <a:xfrm>
            <a:off x="757723" y="4907902"/>
            <a:ext cx="4256526" cy="161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82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Correct BMI Program (Except that it</a:t>
            </a:r>
            <a:br>
              <a:rPr lang="en-GB" dirty="0"/>
            </a:br>
            <a:r>
              <a:rPr lang="en-GB" dirty="0"/>
              <a:t>doesn’t handle height of zero correctly)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2838598"/>
            <a:ext cx="8105549" cy="2365434"/>
          </a:xfrm>
        </p:spPr>
        <p:txBody>
          <a:bodyPr/>
          <a:lstStyle/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weight = int(input('Enter your weight&gt;'))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height = int(input('Enter your height&gt;'))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weight/(height/100)**2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print('Your BMI is ',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092F59E-7C76-4642-B1F0-434D4759DA67}"/>
              </a:ext>
            </a:extLst>
          </p:cNvPr>
          <p:cNvGrpSpPr/>
          <p:nvPr/>
        </p:nvGrpSpPr>
        <p:grpSpPr>
          <a:xfrm>
            <a:off x="3097763" y="2541234"/>
            <a:ext cx="5851683" cy="1163020"/>
            <a:chOff x="3079102" y="2102694"/>
            <a:chExt cx="5693062" cy="1629551"/>
          </a:xfrm>
        </p:grpSpPr>
        <p:sp>
          <p:nvSpPr>
            <p:cNvPr id="4" name="TextBox 3"/>
            <p:cNvSpPr txBox="1"/>
            <p:nvPr/>
          </p:nvSpPr>
          <p:spPr>
            <a:xfrm>
              <a:off x="4883732" y="2102694"/>
              <a:ext cx="3888432" cy="14230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>
                  <a:solidFill>
                    <a:schemeClr val="accent6"/>
                  </a:solidFill>
                </a:rPr>
                <a:t>Use the </a:t>
              </a:r>
              <a:r>
                <a:rPr lang="en-GB" sz="2000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GB" sz="2000" dirty="0">
                  <a:solidFill>
                    <a:schemeClr val="accent6"/>
                  </a:solidFill>
                </a:rPr>
                <a:t> function to convert the user’s input from a </a:t>
              </a:r>
              <a:r>
                <a:rPr lang="en-GB" sz="2000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str</a:t>
              </a:r>
              <a:r>
                <a:rPr lang="en-GB" sz="2000" dirty="0">
                  <a:solidFill>
                    <a:schemeClr val="accent6"/>
                  </a:solidFill>
                </a:rPr>
                <a:t> to an </a:t>
              </a:r>
              <a:r>
                <a:rPr lang="en-GB" sz="2000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</a:p>
          </p:txBody>
        </p:sp>
        <p:cxnSp>
          <p:nvCxnSpPr>
            <p:cNvPr id="5" name="Straight Arrow Connector 4"/>
            <p:cNvCxnSpPr>
              <a:cxnSpLocks/>
            </p:cNvCxnSpPr>
            <p:nvPr/>
          </p:nvCxnSpPr>
          <p:spPr>
            <a:xfrm flipH="1">
              <a:off x="3079102" y="3346576"/>
              <a:ext cx="1804630" cy="385669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/>
          <p:cNvSpPr txBox="1"/>
          <p:nvPr/>
        </p:nvSpPr>
        <p:spPr>
          <a:xfrm>
            <a:off x="670181" y="5794434"/>
            <a:ext cx="7885990" cy="707886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accent6"/>
                </a:solidFill>
              </a:rPr>
              <a:t>In next week’s classes we will learn how to correctly handle the case where the height is zero</a:t>
            </a:r>
          </a:p>
        </p:txBody>
      </p:sp>
    </p:spTree>
    <p:extLst>
      <p:ext uri="{BB962C8B-B14F-4D97-AF65-F5344CB8AC3E}">
        <p14:creationId xmlns:p14="http://schemas.microsoft.com/office/powerpoint/2010/main" val="115179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A9FD-4EF7-6F9C-2458-0D5536938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Times New Roman" pitchFamily="18" charset="0"/>
              </a:rPr>
              <a:t>Errors - Syntactic and Semantic</a:t>
            </a:r>
            <a:r>
              <a:rPr lang="en-US" dirty="0"/>
              <a:t> 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8CD53-3193-D725-5DAB-183FCA6AA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56867"/>
            <a:ext cx="8520600" cy="5014566"/>
          </a:xfrm>
        </p:spPr>
        <p:txBody>
          <a:bodyPr/>
          <a:lstStyle/>
          <a:p>
            <a:pPr marL="114300" indent="0" eaLnBrk="1" hangingPunct="1">
              <a:buNone/>
            </a:pPr>
            <a:r>
              <a:rPr lang="en-GB" sz="1800" dirty="0">
                <a:cs typeface="Times New Roman" pitchFamily="18" charset="0"/>
              </a:rPr>
              <a:t>A </a:t>
            </a:r>
            <a:r>
              <a:rPr lang="en-GB" sz="1800" i="1" dirty="0">
                <a:cs typeface="Times New Roman" pitchFamily="18" charset="0"/>
              </a:rPr>
              <a:t>syntactic </a:t>
            </a:r>
            <a:r>
              <a:rPr lang="en-GB" sz="1800" dirty="0">
                <a:cs typeface="Times New Roman" pitchFamily="18" charset="0"/>
              </a:rPr>
              <a:t>error occurs when you have not followed the syntax of the programming language you are using for source code. This is like making a grammatical mistake in a natural language, say English. Syntactic errors are picked up in compilation.</a:t>
            </a:r>
          </a:p>
          <a:p>
            <a:pPr marL="114300" indent="0">
              <a:buNone/>
            </a:pPr>
            <a:r>
              <a:rPr lang="en-GB" sz="1800" dirty="0">
                <a:cs typeface="Times New Roman" pitchFamily="18" charset="0"/>
              </a:rPr>
              <a:t>		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weight/(100height)**2</a:t>
            </a:r>
            <a:endParaRPr lang="en-GB" sz="2000" dirty="0">
              <a:cs typeface="Times New Roman" pitchFamily="18" charset="0"/>
            </a:endParaRPr>
          </a:p>
          <a:p>
            <a:pPr marL="114300" indent="0" eaLnBrk="1" hangingPunct="1">
              <a:buNone/>
            </a:pPr>
            <a:endParaRPr lang="en-GB" sz="2000" dirty="0">
              <a:cs typeface="Times New Roman" pitchFamily="18" charset="0"/>
            </a:endParaRPr>
          </a:p>
          <a:p>
            <a:pPr marL="114300" indent="0" eaLnBrk="1" hangingPunct="1">
              <a:buNone/>
            </a:pPr>
            <a:r>
              <a:rPr lang="en-GB" sz="2000" dirty="0">
                <a:cs typeface="Times New Roman" pitchFamily="18" charset="0"/>
              </a:rPr>
              <a:t>A </a:t>
            </a:r>
            <a:r>
              <a:rPr lang="en-GB" sz="2000" i="1" dirty="0">
                <a:cs typeface="Times New Roman" pitchFamily="18" charset="0"/>
              </a:rPr>
              <a:t>semantic </a:t>
            </a:r>
            <a:r>
              <a:rPr lang="en-GB" sz="2000" dirty="0">
                <a:cs typeface="Times New Roman" pitchFamily="18" charset="0"/>
              </a:rPr>
              <a:t>error occurs when your program does something it was not meant (specified) to do, if you run it. This is like not saying the right thing in English.</a:t>
            </a:r>
          </a:p>
          <a:p>
            <a:pPr marL="114300" indent="0" eaLnBrk="1" hangingPunct="1">
              <a:buNone/>
            </a:pPr>
            <a:r>
              <a:rPr lang="en-GB" sz="2000" dirty="0">
                <a:cs typeface="Times New Roman" pitchFamily="18" charset="0"/>
              </a:rPr>
              <a:t> </a:t>
            </a:r>
          </a:p>
          <a:p>
            <a:pPr marL="11430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weight/(100height)*2</a:t>
            </a:r>
            <a:endParaRPr lang="en-GB" sz="2400" dirty="0">
              <a:cs typeface="Times New Roman" pitchFamily="18" charset="0"/>
            </a:endParaRPr>
          </a:p>
          <a:p>
            <a:pPr marL="114300" indent="0" eaLnBrk="1" hangingPunct="1">
              <a:buNone/>
            </a:pPr>
            <a:endParaRPr lang="en-GB" sz="2000" dirty="0">
              <a:cs typeface="Times New Roman" pitchFamily="18" charset="0"/>
            </a:endParaRPr>
          </a:p>
          <a:p>
            <a:pPr marL="114300" indent="0" eaLnBrk="1" hangingPunct="1">
              <a:buNone/>
            </a:pPr>
            <a:r>
              <a:rPr lang="en-GB" sz="2000" dirty="0">
                <a:cs typeface="Times New Roman" pitchFamily="18" charset="0"/>
              </a:rPr>
              <a:t>If our program   multiplies  the height by two instead of calculating its square then it has a semantic error. The error is probably in the design stage</a:t>
            </a:r>
            <a:r>
              <a:rPr lang="en-GB" sz="2400" dirty="0">
                <a:cs typeface="Times New Roman" pitchFamily="18" charset="0"/>
              </a:rPr>
              <a:t>.</a:t>
            </a:r>
            <a:r>
              <a:rPr lang="en-US" sz="2400" dirty="0"/>
              <a:t> </a:t>
            </a:r>
          </a:p>
          <a:p>
            <a:pPr marL="114300" indent="0" eaLnBrk="1" hangingPunct="1">
              <a:buNone/>
            </a:pPr>
            <a:endParaRPr lang="en-US" sz="20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4998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4FBF9-540C-F99A-8192-10F186BFA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Testing</a:t>
            </a:r>
          </a:p>
        </p:txBody>
      </p:sp>
    </p:spTree>
    <p:extLst>
      <p:ext uri="{BB962C8B-B14F-4D97-AF65-F5344CB8AC3E}">
        <p14:creationId xmlns:p14="http://schemas.microsoft.com/office/powerpoint/2010/main" val="42715599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F65CFD-37AF-4109-A22A-8C7292BE9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Testing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741EB7-CC0C-46F9-A977-39601C851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this presentation we explain how we can test the BMI program developed earlier, and set out some general guidelines </a:t>
            </a:r>
            <a:r>
              <a:rPr lang="en-GB"/>
              <a:t>for testing.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4713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3429000"/>
            <a:ext cx="7992888" cy="2553147"/>
          </a:xfrm>
        </p:spPr>
        <p:txBody>
          <a:bodyPr/>
          <a:lstStyle/>
          <a:p>
            <a:r>
              <a:rPr lang="en-GB" dirty="0"/>
              <a:t>Designing tests before coding often helps you clarify your ideas about what a program is supposed to do (as perceived by the user).</a:t>
            </a:r>
          </a:p>
          <a:p>
            <a:r>
              <a:rPr lang="en-GB" dirty="0"/>
              <a:t>It also keeps you honest, because it stops you from, consciously or unconsciously, picking tests that you know your program will pass.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576" y="1556792"/>
            <a:ext cx="6624736" cy="1938992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6"/>
                </a:solidFill>
              </a:rPr>
              <a:t>Problem Solving and Programming Tip #3</a:t>
            </a:r>
          </a:p>
          <a:p>
            <a:endParaRPr lang="en-GB" sz="2400" dirty="0">
              <a:solidFill>
                <a:schemeClr val="accent6"/>
              </a:solidFill>
            </a:endParaRPr>
          </a:p>
          <a:p>
            <a:r>
              <a:rPr lang="en-GB" sz="2400" dirty="0">
                <a:solidFill>
                  <a:schemeClr val="tx2"/>
                </a:solidFill>
              </a:rPr>
              <a:t>It is often helpful to decide how you are going to test a program before you think about how you will code it.</a:t>
            </a:r>
          </a:p>
        </p:txBody>
      </p:sp>
    </p:spTree>
    <p:extLst>
      <p:ext uri="{BB962C8B-B14F-4D97-AF65-F5344CB8AC3E}">
        <p14:creationId xmlns:p14="http://schemas.microsoft.com/office/powerpoint/2010/main" val="1270691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112" y="1549779"/>
            <a:ext cx="8105549" cy="2736303"/>
          </a:xfrm>
        </p:spPr>
        <p:txBody>
          <a:bodyPr/>
          <a:lstStyle/>
          <a:p>
            <a:r>
              <a:rPr lang="en-GB" sz="2000" dirty="0"/>
              <a:t>A test plan sets out the tests to which you will subject your program. For each test, you would usually specify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/>
              <a:t>Input values to be supplied to the program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/>
              <a:t>The expected output</a:t>
            </a:r>
          </a:p>
          <a:p>
            <a:r>
              <a:rPr lang="en-GB" sz="2000" dirty="0"/>
              <a:t>After the test has been performed you add the actual output, which will tell you whether the test was passed or not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1112" y="4732396"/>
            <a:ext cx="7848872" cy="1631216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accent6"/>
                </a:solidFill>
              </a:rPr>
              <a:t>Problem Solving and Programming Tip #4</a:t>
            </a:r>
          </a:p>
          <a:p>
            <a:endParaRPr lang="en-GB" sz="2000" dirty="0">
              <a:solidFill>
                <a:schemeClr val="accent6"/>
              </a:solidFill>
            </a:endParaRPr>
          </a:p>
          <a:p>
            <a:r>
              <a:rPr lang="en-GB" sz="2000" dirty="0">
                <a:solidFill>
                  <a:schemeClr val="tx2"/>
                </a:solidFill>
              </a:rPr>
              <a:t>When writing tests, specify </a:t>
            </a:r>
            <a:r>
              <a:rPr lang="en-GB" sz="2000" i="1" dirty="0">
                <a:solidFill>
                  <a:schemeClr val="tx2"/>
                </a:solidFill>
              </a:rPr>
              <a:t>exactly</a:t>
            </a:r>
            <a:r>
              <a:rPr lang="en-GB" sz="2000" dirty="0">
                <a:solidFill>
                  <a:schemeClr val="tx2"/>
                </a:solidFill>
              </a:rPr>
              <a:t> what input values are to be provided, and </a:t>
            </a:r>
            <a:r>
              <a:rPr lang="en-GB" sz="2000" i="1" dirty="0">
                <a:solidFill>
                  <a:schemeClr val="tx2"/>
                </a:solidFill>
              </a:rPr>
              <a:t>exactly</a:t>
            </a:r>
            <a:r>
              <a:rPr lang="en-GB" sz="2000" dirty="0">
                <a:solidFill>
                  <a:schemeClr val="tx2"/>
                </a:solidFill>
              </a:rPr>
              <a:t> what output you expect. Avoid saying things such as "Enter two numbers and check that the result is correct".</a:t>
            </a:r>
          </a:p>
        </p:txBody>
      </p:sp>
    </p:spTree>
    <p:extLst>
      <p:ext uri="{BB962C8B-B14F-4D97-AF65-F5344CB8AC3E}">
        <p14:creationId xmlns:p14="http://schemas.microsoft.com/office/powerpoint/2010/main" val="743668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First Attempt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50888" y="2071688"/>
          <a:ext cx="8105775" cy="1188720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5420">
                <a:tc gridSpan="2">
                  <a:txBody>
                    <a:bodyPr/>
                    <a:lstStyle/>
                    <a:p>
                      <a:pPr algn="ctr"/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baseline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Expected</a:t>
                      </a:r>
                    </a:p>
                    <a:p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Output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baseline="0" dirty="0">
                          <a:solidFill>
                            <a:schemeClr val="bg1"/>
                          </a:solidFill>
                        </a:rPr>
                        <a:t>Actual Output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baseline="0" dirty="0">
                          <a:solidFill>
                            <a:schemeClr val="bg1"/>
                          </a:solidFill>
                        </a:rPr>
                        <a:t>Test Passed?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tx2"/>
                          </a:solidFill>
                        </a:rPr>
                        <a:t>Weight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tx2"/>
                          </a:solidFill>
                        </a:rPr>
                        <a:t>Height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510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120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120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83.3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395536" y="1988840"/>
            <a:ext cx="8064896" cy="2292062"/>
            <a:chOff x="395536" y="1988840"/>
            <a:chExt cx="8064896" cy="2292062"/>
          </a:xfrm>
          <a:solidFill>
            <a:schemeClr val="accent5">
              <a:shade val="60000"/>
            </a:schemeClr>
          </a:solidFill>
        </p:grpSpPr>
        <p:cxnSp>
          <p:nvCxnSpPr>
            <p:cNvPr id="6" name="Straight Connector 5"/>
            <p:cNvCxnSpPr/>
            <p:nvPr/>
          </p:nvCxnSpPr>
          <p:spPr>
            <a:xfrm flipV="1">
              <a:off x="395536" y="1988840"/>
              <a:ext cx="8064896" cy="1224136"/>
            </a:xfrm>
            <a:prstGeom prst="line">
              <a:avLst/>
            </a:prstGeom>
            <a:grpFill/>
            <a:ln w="412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395536" y="1988840"/>
              <a:ext cx="8064896" cy="1224136"/>
            </a:xfrm>
            <a:prstGeom prst="line">
              <a:avLst/>
            </a:prstGeom>
            <a:grpFill/>
            <a:ln w="412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1043608" y="3573016"/>
              <a:ext cx="6912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>
                  <a:solidFill>
                    <a:schemeClr val="bg1"/>
                  </a:solidFill>
                </a:rPr>
                <a:t>Not a good test because a program could mix up weight and height and still pass it.</a:t>
              </a:r>
            </a:p>
          </p:txBody>
        </p:sp>
      </p:grpSp>
      <p:graphicFrame>
        <p:nvGraphicFramePr>
          <p:cNvPr id="9" name="Content Placeholder 3"/>
          <p:cNvGraphicFramePr>
            <a:graphicFrameLocks/>
          </p:cNvGraphicFramePr>
          <p:nvPr/>
        </p:nvGraphicFramePr>
        <p:xfrm>
          <a:off x="755576" y="4846920"/>
          <a:ext cx="8105775" cy="1188720"/>
        </p:xfrm>
        <a:graphic>
          <a:graphicData uri="http://schemas.openxmlformats.org/drawingml/2006/table">
            <a:tbl>
              <a:tblPr firstRow="1">
                <a:tableStyleId>{D03447BB-5D67-496B-8E87-E561075AD55C}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5420">
                <a:tc gridSpan="2">
                  <a:txBody>
                    <a:bodyPr/>
                    <a:lstStyle/>
                    <a:p>
                      <a:pPr algn="ctr"/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baseline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Expected</a:t>
                      </a:r>
                    </a:p>
                    <a:p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Output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Actual Output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Test Passed?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tx2"/>
                          </a:solidFill>
                        </a:rPr>
                        <a:t>Weight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tx2"/>
                          </a:solidFill>
                        </a:rPr>
                        <a:t>Height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50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120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34.7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4173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Second Attempt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50888" y="1639640"/>
          <a:ext cx="8105775" cy="1584960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5420">
                <a:tc gridSpan="2">
                  <a:txBody>
                    <a:bodyPr/>
                    <a:lstStyle/>
                    <a:p>
                      <a:pPr algn="ctr"/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baseline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Expected</a:t>
                      </a:r>
                    </a:p>
                    <a:p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Output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Actual Output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Test Passed?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tx2"/>
                          </a:solidFill>
                        </a:rPr>
                        <a:t>Weight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tx2"/>
                          </a:solidFill>
                        </a:rPr>
                        <a:t>Height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50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120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34.7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200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240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34.7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214604" y="1556792"/>
            <a:ext cx="8617696" cy="2966244"/>
            <a:chOff x="214604" y="1988840"/>
            <a:chExt cx="8617696" cy="2966244"/>
          </a:xfrm>
        </p:grpSpPr>
        <p:cxnSp>
          <p:nvCxnSpPr>
            <p:cNvPr id="6" name="Straight Connector 5"/>
            <p:cNvCxnSpPr>
              <a:cxnSpLocks/>
            </p:cNvCxnSpPr>
            <p:nvPr/>
          </p:nvCxnSpPr>
          <p:spPr>
            <a:xfrm flipV="1">
              <a:off x="214604" y="1988840"/>
              <a:ext cx="8533860" cy="1596955"/>
            </a:xfrm>
            <a:prstGeom prst="line">
              <a:avLst/>
            </a:prstGeom>
            <a:ln w="317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>
              <a:cxnSpLocks/>
            </p:cNvCxnSpPr>
            <p:nvPr/>
          </p:nvCxnSpPr>
          <p:spPr>
            <a:xfrm>
              <a:off x="395536" y="1988840"/>
              <a:ext cx="8436764" cy="1596955"/>
            </a:xfrm>
            <a:prstGeom prst="line">
              <a:avLst/>
            </a:prstGeom>
            <a:ln w="317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971600" y="3939421"/>
              <a:ext cx="691276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>
                  <a:solidFill>
                    <a:schemeClr val="bg1"/>
                  </a:solidFill>
                </a:rPr>
                <a:t>Not a good pair of tests because they both have the same result. The program could just be repeating the result of the previous calculation and still pass the tests.</a:t>
              </a:r>
            </a:p>
          </p:txBody>
        </p:sp>
      </p:grpSp>
      <p:graphicFrame>
        <p:nvGraphicFramePr>
          <p:cNvPr id="9" name="Content Placeholder 3"/>
          <p:cNvGraphicFramePr>
            <a:graphicFrameLocks/>
          </p:cNvGraphicFramePr>
          <p:nvPr/>
        </p:nvGraphicFramePr>
        <p:xfrm>
          <a:off x="755576" y="4774912"/>
          <a:ext cx="8105775" cy="1584960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5420">
                <a:tc gridSpan="2">
                  <a:txBody>
                    <a:bodyPr/>
                    <a:lstStyle/>
                    <a:p>
                      <a:pPr algn="ctr"/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baseline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Expected</a:t>
                      </a:r>
                    </a:p>
                    <a:p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Output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Actual Output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Test Passed?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tx2"/>
                          </a:solidFill>
                        </a:rPr>
                        <a:t>Weight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tx2"/>
                          </a:solidFill>
                        </a:rPr>
                        <a:t>Height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50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120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34.7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74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190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20.4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1642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Third Attempt (Almost There?)</a:t>
            </a: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/>
        </p:nvGraphicFramePr>
        <p:xfrm>
          <a:off x="755576" y="1844824"/>
          <a:ext cx="8105775" cy="1981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5420">
                <a:tc gridSpan="2">
                  <a:txBody>
                    <a:bodyPr/>
                    <a:lstStyle/>
                    <a:p>
                      <a:pPr algn="ctr"/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Input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baseline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Expected</a:t>
                      </a:r>
                    </a:p>
                    <a:p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Output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Actual Output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bg1"/>
                          </a:solidFill>
                        </a:rPr>
                        <a:t>Test Passed?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tx2"/>
                          </a:solidFill>
                        </a:rPr>
                        <a:t>Weight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aseline="0" dirty="0">
                          <a:solidFill>
                            <a:schemeClr val="tx2"/>
                          </a:solidFill>
                        </a:rPr>
                        <a:t>Height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50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120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34.7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74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190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20.4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67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2"/>
                          </a:solidFill>
                        </a:rPr>
                        <a:t>???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3972197"/>
            <a:ext cx="8101086" cy="2481139"/>
          </a:xfrm>
        </p:spPr>
        <p:txBody>
          <a:bodyPr/>
          <a:lstStyle/>
          <a:p>
            <a:r>
              <a:rPr lang="en-GB" sz="2000" dirty="0"/>
              <a:t>Hang on though! Entering a height of zero will mean that the formula for BMI requires us to divide by zero. We haven’t said what happens in this case. Options include: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/>
              <a:t>The program could output something like “N/A”.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/>
              <a:t>The program could ask the user to re-enter the height.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/>
              <a:t>We could simply not specify what happens in this case.</a:t>
            </a:r>
          </a:p>
        </p:txBody>
      </p:sp>
    </p:spTree>
    <p:extLst>
      <p:ext uri="{BB962C8B-B14F-4D97-AF65-F5344CB8AC3E}">
        <p14:creationId xmlns:p14="http://schemas.microsoft.com/office/powerpoint/2010/main" val="42003328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EB883-F1C6-5DE0-E5C4-15808CB88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to </a:t>
            </a:r>
            <a:r>
              <a:rPr lang="en-US" dirty="0" err="1"/>
              <a:t>Codio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52875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9CC39-D131-10DD-B5BC-0C4246CC0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 on Moodle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D4B14-1762-9188-68C2-4BF56590B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</a:t>
            </a:r>
            <a:r>
              <a:rPr lang="en-US" dirty="0" err="1"/>
              <a:t>Codio</a:t>
            </a:r>
            <a:r>
              <a:rPr lang="en-US" dirty="0"/>
              <a:t> site for </a:t>
            </a:r>
            <a:r>
              <a:rPr lang="en-US" dirty="0">
                <a:hlinkClick r:id="rId2"/>
              </a:rPr>
              <a:t>COMP4004 </a:t>
            </a:r>
            <a:endParaRPr lang="en-US" dirty="0"/>
          </a:p>
          <a:p>
            <a:r>
              <a:rPr lang="en-US" dirty="0"/>
              <a:t>Login to </a:t>
            </a:r>
            <a:r>
              <a:rPr lang="en-US" dirty="0" err="1"/>
              <a:t>Codio</a:t>
            </a:r>
            <a:r>
              <a:rPr lang="en-US" dirty="0"/>
              <a:t> using your Brookes email address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1FB8EF-A10D-24CB-916F-287A8A1A3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87" y="2600967"/>
            <a:ext cx="7772400" cy="366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5825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1DE10-3CE8-68A6-12E0-F3071201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Codio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868E4-E089-E75A-9258-9E0F8694F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your name and surname and Codio will send you a verification code</a:t>
            </a:r>
          </a:p>
          <a:p>
            <a:endParaRPr lang="en-US" dirty="0"/>
          </a:p>
          <a:p>
            <a:r>
              <a:rPr lang="en-US" dirty="0"/>
              <a:t>Once you have connected you will see the list of exercises that you will do in the first lab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B98AE210-D575-B392-03F3-CE4297260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73" y="3359085"/>
            <a:ext cx="7772400" cy="301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134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076AD-A0C5-B909-8B04-F4C036C37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019A1-0B67-4996-D48F-E0769CA53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time do not fill the sign In section just connect with Google</a:t>
            </a:r>
          </a:p>
        </p:txBody>
      </p:sp>
      <p:pic>
        <p:nvPicPr>
          <p:cNvPr id="7" name="Picture 6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D76E4CEF-93EC-14CC-CC67-F517128F3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00967"/>
            <a:ext cx="7772400" cy="366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3604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88979-695F-1707-7FF5-BC515A153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8C2C2-D6C1-5CDB-C8EC-EE3A3AD1D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the Module</a:t>
            </a:r>
          </a:p>
          <a:p>
            <a:r>
              <a:rPr lang="en-US" dirty="0"/>
              <a:t>Introduction to Programming</a:t>
            </a:r>
          </a:p>
          <a:p>
            <a:pPr lvl="1"/>
            <a:r>
              <a:rPr lang="en-US" dirty="0"/>
              <a:t>Variables</a:t>
            </a:r>
          </a:p>
          <a:p>
            <a:pPr lvl="1"/>
            <a:r>
              <a:rPr lang="en-US" dirty="0"/>
              <a:t>Assignments</a:t>
            </a:r>
          </a:p>
          <a:p>
            <a:pPr lvl="1"/>
            <a:r>
              <a:rPr lang="en-US" dirty="0"/>
              <a:t>Basic Operations</a:t>
            </a:r>
          </a:p>
          <a:p>
            <a:pPr lvl="1"/>
            <a:r>
              <a:rPr lang="en-US" dirty="0"/>
              <a:t>Testing</a:t>
            </a:r>
          </a:p>
          <a:p>
            <a:r>
              <a:rPr lang="en-US" dirty="0"/>
              <a:t>Ready for the lab </a:t>
            </a:r>
          </a:p>
        </p:txBody>
      </p:sp>
    </p:spTree>
    <p:extLst>
      <p:ext uri="{BB962C8B-B14F-4D97-AF65-F5344CB8AC3E}">
        <p14:creationId xmlns:p14="http://schemas.microsoft.com/office/powerpoint/2010/main" val="5548065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C8CE9-0E1D-FED1-458A-80C044AFB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78C3C-BF4F-0BB2-A380-D4EDD9300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Login to </a:t>
            </a:r>
            <a:r>
              <a:rPr lang="en-US" dirty="0" err="1"/>
              <a:t>Codio</a:t>
            </a:r>
            <a:endParaRPr lang="en-US" dirty="0"/>
          </a:p>
          <a:p>
            <a:r>
              <a:rPr lang="en-US" dirty="0"/>
              <a:t>First exercises </a:t>
            </a:r>
          </a:p>
          <a:p>
            <a:r>
              <a:rPr lang="en-US" dirty="0"/>
              <a:t>Quiz </a:t>
            </a:r>
          </a:p>
          <a:p>
            <a:r>
              <a:rPr lang="en-US" dirty="0"/>
              <a:t>More exercises on Thursday</a:t>
            </a:r>
          </a:p>
          <a:p>
            <a:r>
              <a:rPr lang="en-US" dirty="0"/>
              <a:t>Finish all the exercises by Sunday</a:t>
            </a:r>
          </a:p>
          <a:p>
            <a:r>
              <a:rPr lang="en-US" dirty="0"/>
              <a:t>Next week:</a:t>
            </a:r>
          </a:p>
          <a:p>
            <a:pPr lvl="1"/>
            <a:r>
              <a:rPr lang="en-US" dirty="0"/>
              <a:t>Boolean Expressions and Conditions</a:t>
            </a:r>
          </a:p>
        </p:txBody>
      </p:sp>
    </p:spTree>
    <p:extLst>
      <p:ext uri="{BB962C8B-B14F-4D97-AF65-F5344CB8AC3E}">
        <p14:creationId xmlns:p14="http://schemas.microsoft.com/office/powerpoint/2010/main" val="421828850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Brookes (Dark-Pink)">
  <a:themeElements>
    <a:clrScheme name="Custom 10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D10373"/>
      </a:accent1>
      <a:accent2>
        <a:srgbClr val="212121"/>
      </a:accent2>
      <a:accent3>
        <a:srgbClr val="78909C"/>
      </a:accent3>
      <a:accent4>
        <a:srgbClr val="F49103"/>
      </a:accent4>
      <a:accent5>
        <a:srgbClr val="0085A1"/>
      </a:accent5>
      <a:accent6>
        <a:srgbClr val="E3BA12"/>
      </a:accent6>
      <a:hlink>
        <a:srgbClr val="E9B9D6"/>
      </a:hlink>
      <a:folHlink>
        <a:srgbClr val="E9B9D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-3 Simple Brookes (Dark-Pink).potx" id="{6C4C5CA9-8567-42CB-B475-9A59F53438C2}" vid="{3FC21E1B-3C72-487C-BD4E-7B2B35D3C2E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4-3 Simple Brookes (Dark-Pink)</Template>
  <TotalTime>525</TotalTime>
  <Words>2104</Words>
  <Application>Microsoft Macintosh PowerPoint</Application>
  <PresentationFormat>On-screen Show (4:3)</PresentationFormat>
  <Paragraphs>275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Courier New</vt:lpstr>
      <vt:lpstr>Times New Roman</vt:lpstr>
      <vt:lpstr>Wingdings</vt:lpstr>
      <vt:lpstr>Simple Brookes (Dark-Pink)</vt:lpstr>
      <vt:lpstr>COMP4004 Week 1: Introduction to Programming</vt:lpstr>
      <vt:lpstr>Programming Languages and Python</vt:lpstr>
      <vt:lpstr>Computer Programs</vt:lpstr>
      <vt:lpstr>Programming Languages Common Language Elements</vt:lpstr>
      <vt:lpstr>The Python Programming Language</vt:lpstr>
      <vt:lpstr>Variables </vt:lpstr>
      <vt:lpstr>Variable Naming - Guidelines</vt:lpstr>
      <vt:lpstr>First Programming Problem</vt:lpstr>
      <vt:lpstr>Solving Problem #1 (BMI Calculation)</vt:lpstr>
      <vt:lpstr>Design and Coding</vt:lpstr>
      <vt:lpstr>Simplifying Problems</vt:lpstr>
      <vt:lpstr>Simplifying the BMI Problem</vt:lpstr>
      <vt:lpstr>The BMI Program in Python (Simplified)</vt:lpstr>
      <vt:lpstr>Assignment Statements</vt:lpstr>
      <vt:lpstr>Naming Variables</vt:lpstr>
      <vt:lpstr>Arithmetic in Python </vt:lpstr>
      <vt:lpstr>Floor Division and Modulus</vt:lpstr>
      <vt:lpstr>Types and Input Statements</vt:lpstr>
      <vt:lpstr>Input Statements</vt:lpstr>
      <vt:lpstr>An INCORRECT Version of the BMI Program</vt:lpstr>
      <vt:lpstr>Types in Python</vt:lpstr>
      <vt:lpstr>Types in Python</vt:lpstr>
      <vt:lpstr>Types of Expressions</vt:lpstr>
      <vt:lpstr>Correct BMI Program (Except that it doesn’t handle height of zero correctly)</vt:lpstr>
      <vt:lpstr>Errors - Syntactic and Semantic </vt:lpstr>
      <vt:lpstr>Introduction to Testing</vt:lpstr>
      <vt:lpstr>Introduction to Testing</vt:lpstr>
      <vt:lpstr>Test Driven Development</vt:lpstr>
      <vt:lpstr>Test Plans</vt:lpstr>
      <vt:lpstr>First Attempt</vt:lpstr>
      <vt:lpstr>Second Attempt</vt:lpstr>
      <vt:lpstr>Third Attempt (Almost There?)</vt:lpstr>
      <vt:lpstr>Login to Codio </vt:lpstr>
      <vt:lpstr>Instructions on Moodle</vt:lpstr>
      <vt:lpstr>Codio</vt:lpstr>
      <vt:lpstr>Login</vt:lpstr>
      <vt:lpstr>Summary</vt:lpstr>
      <vt:lpstr>Next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Sutton</dc:creator>
  <cp:lastModifiedBy>Arantza Aldea</cp:lastModifiedBy>
  <cp:revision>18</cp:revision>
  <dcterms:created xsi:type="dcterms:W3CDTF">2023-04-20T09:47:32Z</dcterms:created>
  <dcterms:modified xsi:type="dcterms:W3CDTF">2026-09-17T12:35:29Z</dcterms:modified>
</cp:coreProperties>
</file>